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13bb06-6e85-c6f1-1b78-02114ca94f5c}">
          <p14:sldIdLst>
            <p14:sldId id="256"/>
            <p14:sldId id="257"/>
          </p14:sldIdLst>
        </p14:section>
        <p14:section name="Architecture" id="{3afad2d4-547a-537f-148e-eae4c73f4820}">
          <p14:sldIdLst>
            <p14:sldId id="258"/>
          </p14:sldIdLst>
        </p14:section>
        <p14:section name="Components" id="{483ae929-d591-0320-6f8c-524fb023a9b7}">
          <p14:sldIdLst>
            <p14:sldId id="259"/>
            <p14:sldId id="260"/>
            <p14:sldId id="261"/>
          </p14:sldIdLst>
        </p14:section>
        <p14:section name="Workflow" id="{bdc7d2b6-ff9a-98ec-da45-111d8299311c}">
          <p14:sldIdLst>
            <p14:sldId id="262"/>
            <p14:sldId id="263"/>
            <p14:sldId id="264"/>
          </p14:sldIdLst>
        </p14:section>
        <p14:section name="Results" id="{b588b01c-53a7-c896-a316-b020e87dad72}">
          <p14:sldIdLst>
            <p14:sldId id="265"/>
            <p14:sldId id="266"/>
            <p14:sldId id="267"/>
          </p14:sldIdLst>
        </p14:section>
        <p14:section name="Wrap-up" id="{8af43505-af65-a9c8-0bab-67a7da778486}">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129"/>
                </a:solidFill>
                <a:latin typeface="+mn-lt"/>
              </a:defRPr>
            </a:pPr>
            <a:r>
              <a:rPr sz="1400" b="0" i="0" u="none" strike="noStrike">
                <a:solidFill>
                  <a:srgbClr val="1D2129"/>
                </a:solidFill>
                <a:latin typeface="+mn-lt"/>
              </a:rPr>
              <a:t>Right structure at the first attempt (%)</a:t>
            </a:r>
          </a:p>
        </c:rich>
      </c:tx>
      <c:layout/>
      <c:overlay val="0"/>
    </c:title>
    <c:autoTitleDeleted val="0"/>
    <c:plotArea>
      <c:layout/>
      <c:barChart>
        <c:barDir val="bar"/>
        <c:grouping val="stacked"/>
        <c:varyColors val="0"/>
        <c:ser>
          <c:idx val="0"/>
          <c:order val="0"/>
          <c:tx>
            <c:strRef>
              <c:f>Sheet1!$B$1</c:f>
              <c:strCache>
                <c:ptCount val="1"/>
                <c:pt idx="0">
                  <c:v>Baselines</c:v>
                </c:pt>
              </c:strCache>
            </c:strRef>
          </c:tx>
          <c:spPr>
            <a:solidFill>
              <a:srgbClr val="6B7380"/>
            </a:solidFill>
            <a:effectLst/>
          </c:spPr>
          <c:invertIfNegative val="0"/>
          <c:dLbls>
            <c:numFmt formatCode="0.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CrystaLLM (fine-tuned)</c:v>
                  </c:pt>
                  <c:pt idx="1">
                    <c:v>Composition rule</c:v>
                  </c:pt>
                  <c:pt idx="2">
                    <c:v>Hautier substitution</c:v>
                  </c:pt>
                  <c:pt idx="3">
                    <c:v>K-Ont templates</c:v>
                  </c:pt>
                </c:lvl>
              </c:multiLvlStrCache>
            </c:multiLvlStrRef>
          </c:cat>
          <c:val>
            <c:numRef>
              <c:f>Sheet1!$B$2:$B$5</c:f>
              <c:numCache>
                <c:formatCode>General</c:formatCode>
                <c:ptCount val="4"/>
                <c:pt idx="0">
                  <c:v>48.3</c:v>
                </c:pt>
                <c:pt idx="1">
                  <c:v>51.3</c:v>
                </c:pt>
                <c:pt idx="2">
                  <c:v>52.1</c:v>
                </c:pt>
                <c:pt idx="3">
                  <c:v/>
                </c:pt>
              </c:numCache>
            </c:numRef>
          </c:val>
        </c:ser>
        <c:ser>
          <c:idx val="1"/>
          <c:order val="1"/>
          <c:tx>
            <c:strRef>
              <c:f>Sheet1!$C$1</c:f>
              <c:strCache>
                <c:ptCount val="1"/>
                <c:pt idx="0">
                  <c:v>K-Ont</c:v>
                </c:pt>
              </c:strCache>
            </c:strRef>
          </c:tx>
          <c:spPr>
            <a:solidFill>
              <a:srgbClr val="A4123F"/>
            </a:solidFill>
            <a:effectLst/>
          </c:spPr>
          <c:invertIfNegative val="0"/>
          <c:dLbls>
            <c:numFmt formatCode="0.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CrystaLLM (fine-tuned)</c:v>
                  </c:pt>
                  <c:pt idx="1">
                    <c:v>Composition rule</c:v>
                  </c:pt>
                  <c:pt idx="2">
                    <c:v>Hautier substitution</c:v>
                  </c:pt>
                  <c:pt idx="3">
                    <c:v>K-Ont templates</c:v>
                  </c:pt>
                </c:lvl>
              </c:multiLvlStrCache>
            </c:multiLvlStrRef>
          </c:cat>
          <c:val>
            <c:numRef>
              <c:f>Sheet1!$C$2:$C$5</c:f>
              <c:numCache>
                <c:formatCode>General</c:formatCode>
                <c:ptCount val="4"/>
                <c:pt idx="0">
                  <c:v/>
                </c:pt>
                <c:pt idx="1">
                  <c:v/>
                </c:pt>
                <c:pt idx="2">
                  <c:v/>
                </c:pt>
                <c:pt idx="3">
                  <c:v>60.5</c:v>
                </c:pt>
              </c:numCache>
            </c:numRef>
          </c:val>
        </c:ser>
        <c:dLbls>
          <c:numFmt formatCode="0.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60"/>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b"/>
        <c:majorGridlines>
          <c:spPr>
            <a:ln w="6350" cap="flat">
              <a:solidFill>
                <a:srgbClr val="E3E5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3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method that gave our best structure-generation results: K-Ont template generation. In one sentence: most new materials reuse an atomic arrangement that already exists in a known material, so instead of asking a language model to invent the whole crystal, we use our knowledge graph and the K-Ont encoder to find the right known arrangement and put the new elements into it. I will go through the problem, the architecture, each component, the workflow for one new composition, the results, and what did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CrystaLLM is a GPT model that writes a crystal file as text. It decides the space group, the cell and every atom coordinate itself. On our 902 held-out materials, its first sample is right 48.3% of the time. The key observation is that for 85.6% of those materials, some material in our knowledge graph already has the right framework, and 90.9% with the extended graph. So the knowledge to solve most cases is already there; the question is how to find and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slide. The top band is done once, offline. The battGPT ontology and the knowledge graph of 5,000 Materials Project materials are turned into text by the verbalizer and used to train K-Ont, which places ontology concepts and individual materials in one hyperbolic space. K-Ont is then taught one more relation, 'has the framework of', with a retention step so it keeps everything else; the result is one retriever model. The knowledge graph's materials with known structures form the template pool. The bottom band runs for every new composition: candidates with the same formula pattern come from the pool, K-Ont ranks them against the new composition's structure-free description, the top 3 frameworks receive the new elements, CrystaLLM adds 5 samples, and CHGNet relaxes all 8 and keeps the lowest-energy structure. The numbers at the bottom are the headline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battGPT is our ontology and knowledge graph. The ontology adds two things EMMO lacks for crystal generation: a crystallography model and a structure-family vocabulary. The pipeline fills it with 5,000 lithium and sodium materials from Materials Project, each with its real crystal structure. For template generation, the knowledge graph plays two roles: it is what K-Ont learns from, and its materials are the pool of known frameworks we can reuse. Adding 5,267 more materials raised the share of targets with a correct framework available from 85.6% to 90.9%.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 published at ISWC 2025, embeds the names of ontology concepts in a Poincaré ball, a hyperbolic space where distance from the centre encodes depth in the hierarchy. OnT cannot embed individual materials. K-Ont keeps OnT's model and loss, and adds the knowledge graph: every material is written as a short text description and trained together with three kinds of rows: the ontology's axioms, typing rows saying which class a material belongs to, and relation rows linking a material to its crystal. On 1,018 held-out materials it types materials perfectly; without the ontology's axioms typing drops to 64%, so the ontology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retrieve templates, K-Ont learns one extra relation, 'has the framework of'. The query side is what we know about a new composition: its description without any structure lines. The answer side is the full description of a known material that shares its framework, meaning the same formula pattern and space group. Learning this alone made K-Ont forget its typing, the classic catastrophic forgetting problem. Our fix is a retention loss that keeps the original embeddings of the knowledge-graph sentences, the GALEN ontology concepts and the relation phrases. The result is a single model that still does all the ontology checks and also retrieves frameworks, and it is stable across three random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workflow step by step. One: collect knowledge-graph materials whose formula has the same pattern; NaMnPO4 has the pattern ABCD4, so LiFePO4 and similar phosphates qualify. Two: K-Ont encodes the new composition's structure-free description and scores every candidate; a gradient-boosted ranker combines this with knowledge-graph facts such as how common a framework is, and we keep the top three. Three: put the new elements onto each framework's sites, which takes milliseconds. Four: CrystaLLM writes five more candidates, which covers frameworks the graph does not contain. Five: CHGNet, a machine-learned force field, relaxes all eight and we keep the lowest-energy one. The example on the right is an illustration of the steps, not a reported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question is whether simply swapping elements is chemically sound. The rule matches elements by how many times they appear in the formula and then by electronegativity, so for LiFePO4 to NaMnPO4, sodium takes lithium's site and manganese takes iron's. The cell is scaled by atomic size and then CHGNet relaxes the positions and cell. We also built a stricter version that reads each atom's oxidation state from the template's bonding and matches charges and ionic radii. It changed only 556 of 6,553 placements and did not change accuracy, which shows the simple rule is already chemically consistent. The remaining errors come from choosing the wrong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method alone is best because they fail on different materials. Templates fail when the graph lacks the right framework; CrystaLLM fails when it invents the wrong one. Combined, any of the eight candidates is right 77.3% of the time, and the CHGNet pick gives one final answer that is right 69.3% of the time, against 63.7% for CrystaLLM choosing among its own eight samples. We use eight candidates so that the comparison with CrystaLLM times eight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numbers on 902 held-out materials whose true structures we know. K-Ont templates are right at the first attempt 60.5% of the time, against 48.3% for fine-tuned CrystaLLM, 52.1% for the standard Hautier substitution method and 51.3% for a simple composition rule. Combined with CrystaLLM, some candidate is right 77.3% of the time, and the single answer is right 69.3% of the time. All differences shown are statistically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genuinely new compositions there is no true structure to compare against, so we compare stability. On 199 new cathode compositions, adding K-Ont templates to CrystaLLM-large found a lower-energy structure for 34 compositions and never a higher one. A teammate's independent energy-above-hull calculation confirmed the template was more stable in 32 of those 34, with a median of 0.025 eV/atom against 0.087. The honest caveat is that these 34 were chosen because CHGNet already preferred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original plan was to inject ontology knowledge into CrystaLLM. We built several versions and measured each against controls. The decisive test was the ceiling: even when we give CrystaLLM the true analogue, accuracy rises by only about two points, because the model still writes every coordinate itself. So the knowledge is most valuable when it enters as a ready structure, which is exactly what the template method does. This is a measured finding, not a failure of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to be open about is that a plain encoder trained on the same relation ranks templates about as well as K-Ont, so K-Ont's contribution is doing this inside a single model that also understands the battery ontology. Templates also cannot invent new frameworks, and we have no templates yet for systems with more than five elements. Next, we plan to send these structures through the same MatterSim, stable-unique-novel and DFT screening used by the MatterGen track, get an unbiased DFT sample, and test K-Ont embeddings for predicting voltage and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201168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000" b="1" dirty="0">
                <a:solidFill>
                  <a:schemeClr val="bg1"/>
                </a:solidFill>
              </a:rPr>
              <a:t>K-Ont Template Generation</a:t>
            </a:r>
            <a:endParaRPr lang="en-US" sz="4000" dirty="0"/>
          </a:p>
        </p:txBody>
      </p:sp>
      <p:sp>
        <p:nvSpPr>
          <p:cNvPr id="3" name="Text 0"/>
          <p:cNvSpPr/>
          <p:nvPr>
            <p:ph idx="101" type="body" hasCustomPrompt="1"/>
          </p:nvPr>
        </p:nvSpPr>
        <p:spPr>
          <a:xfrm>
            <a:off x="731520" y="3657600"/>
            <a:ext cx="10698480" cy="2011680"/>
          </a:xfrm>
          <a:prstGeom prst="rect">
            <a:avLst/>
          </a:prstGeom>
          <a:noFill/>
          <a:ln/>
        </p:spPr>
        <p:txBody>
          <a:bodyPr wrap="square" rtlCol="0" anchor="t"/>
          <a:lstStyle/>
          <a:p>
            <a:pPr algn="l" indent="0" marL="0">
              <a:buNone/>
            </a:pPr>
            <a:r>
              <a:rPr lang="en-US" sz="1800" dirty="0">
                <a:solidFill>
                  <a:schemeClr val="bg1"/>
                </a:solidFill>
              </a:rPr>
              <a:t>Knowledge-guided crystal structure prediction for battery cathodes</a:t>
            </a:r>
            <a:endParaRPr lang="en-US" sz="1800" dirty="0"/>
          </a:p>
          <a:p>
            <a:pPr algn="l" indent="0" marL="0">
              <a:buNone/>
            </a:pPr>
            <a:r>
              <a:rPr lang="en-US" sz="1000" dirty="0">
                <a:solidFill>
                  <a:schemeClr val="bg1"/>
                </a:solidFill>
              </a:rPr>
              <a:t> </a:t>
            </a:r>
            <a:endParaRPr lang="en-US" sz="1800" dirty="0"/>
          </a:p>
          <a:p>
            <a:pPr algn="l" indent="0" marL="0">
              <a:buNone/>
            </a:pPr>
            <a:r>
              <a:rPr lang="en-US" sz="1400" dirty="0">
                <a:solidFill>
                  <a:schemeClr val="bg1"/>
                </a:solidFill>
              </a:rPr>
              <a:t>Team 25 · Knowledge-Driven Representation and Analysis of Battery Cathode Materials</a:t>
            </a:r>
            <a:endParaRPr lang="en-US" sz="1800" dirty="0"/>
          </a:p>
          <a:p>
            <a:pPr algn="l" indent="0" marL="0">
              <a:buNone/>
            </a:pPr>
            <a:r>
              <a:rPr lang="en-US" sz="1400" dirty="0">
                <a:solidFill>
                  <a:schemeClr val="bg1"/>
                </a:solidFill>
              </a:rPr>
              <a:t>Guide: Dr. Gowtham R · Co-guide: Dr. M. Ulaganathan · Amrita Vishwa Vidyapeetham, Coimbatore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The problem: predicting a crystal from its composition</a:t>
            </a:r>
            <a:endParaRPr lang="en-US" sz="3000" dirty="0"/>
          </a:p>
        </p:txBody>
      </p:sp>
      <p:sp>
        <p:nvSpPr>
          <p:cNvPr id="3" name="Language-model generation (CrystaLLM)"/>
          <p:cNvSpPr/>
          <p:nvPr/>
        </p:nvSpPr>
        <p:spPr>
          <a:xfrm>
            <a:off x="548640" y="1325880"/>
            <a:ext cx="5349240" cy="1691640"/>
          </a:xfrm>
          <a:prstGeom prst="roundRect">
            <a:avLst>
              <a:gd name="adj" fmla="val 3243"/>
            </a:avLst>
          </a:prstGeom>
          <a:solidFill>
            <a:schemeClr val="accent3">
              <a:alpha val="14000"/>
            </a:schemeClr>
          </a:solidFill>
          <a:ln w="12700">
            <a:solidFill>
              <a:schemeClr val="accent3"/>
            </a:solidFill>
          </a:ln>
        </p:spPr>
        <p:txBody>
          <a:bodyPr wrap="square" lIns="127000" tIns="127000" rIns="127000" bIns="127000" rtlCol="0" anchor="t"/>
          <a:lstStyle/>
          <a:p>
            <a:pPr algn="l" indent="0" marL="0">
              <a:buNone/>
            </a:pPr>
            <a:r>
              <a:rPr lang="en-US" sz="1600" b="1" dirty="0">
                <a:solidFill>
                  <a:schemeClr val="tx1"/>
                </a:solidFill>
              </a:rPr>
              <a:t>Language-model generation (CrystaLLM)</a:t>
            </a:r>
            <a:endParaRPr lang="en-US" sz="1600" dirty="0"/>
          </a:p>
          <a:p>
            <a:pPr algn="l" indent="0" marL="0">
              <a:buNone/>
            </a:pPr>
            <a:r>
              <a:rPr lang="en-US" sz="1300" dirty="0">
                <a:solidFill>
                  <a:schemeClr val="tx2"/>
                </a:solidFill>
              </a:rPr>
              <a:t>Writes the crystal as CIF text, token by token: space group, cell, then every atom position. It must get every coordinate right, and often picks the wrong arrangement.</a:t>
            </a:r>
            <a:endParaRPr lang="en-US" sz="1600" dirty="0"/>
          </a:p>
        </p:txBody>
      </p:sp>
      <p:sp>
        <p:nvSpPr>
          <p:cNvPr id="4" name="Knowledge idea: reuse a known framework"/>
          <p:cNvSpPr/>
          <p:nvPr/>
        </p:nvSpPr>
        <p:spPr>
          <a:xfrm>
            <a:off x="6263640" y="1325880"/>
            <a:ext cx="5349240" cy="1691640"/>
          </a:xfrm>
          <a:prstGeom prst="roundRect">
            <a:avLst>
              <a:gd name="adj" fmla="val 3243"/>
            </a:avLst>
          </a:prstGeom>
          <a:solidFill>
            <a:schemeClr val="accent1">
              <a:alpha val="14000"/>
            </a:schemeClr>
          </a:solidFill>
          <a:ln w="12700">
            <a:solidFill>
              <a:schemeClr val="accent1"/>
            </a:solidFill>
          </a:ln>
        </p:spPr>
        <p:txBody>
          <a:bodyPr wrap="square" lIns="127000" tIns="127000" rIns="127000" bIns="127000" rtlCol="0" anchor="t"/>
          <a:lstStyle/>
          <a:p>
            <a:pPr algn="l" indent="0" marL="0">
              <a:buNone/>
            </a:pPr>
            <a:r>
              <a:rPr lang="en-US" sz="1600" b="1" dirty="0">
                <a:solidFill>
                  <a:schemeClr val="tx1"/>
                </a:solidFill>
              </a:rPr>
              <a:t>Knowledge idea: reuse a known framework</a:t>
            </a:r>
            <a:endParaRPr lang="en-US" sz="1600" dirty="0"/>
          </a:p>
          <a:p>
            <a:pPr algn="l" indent="0" marL="0">
              <a:buNone/>
            </a:pPr>
            <a:r>
              <a:rPr lang="en-US" sz="1300" dirty="0">
                <a:solidFill>
                  <a:schemeClr val="tx2"/>
                </a:solidFill>
              </a:rPr>
              <a:t>Most new materials share an atomic arrangement (framework) with a known one, e.g. NaFePO₄ and LiFePO₄ are both olivine. Find that material in the knowledge graph and place the new elements into its framework.</a:t>
            </a:r>
            <a:endParaRPr lang="en-US" sz="1600" dirty="0"/>
          </a:p>
        </p:txBody>
      </p:sp>
      <p:sp>
        <p:nvSpPr>
          <p:cNvPr id="5" name="Text 3"/>
          <p:cNvSpPr txBox="1"/>
          <p:nvPr/>
        </p:nvSpPr>
        <p:spPr>
          <a:xfrm>
            <a:off x="548640" y="3520440"/>
            <a:ext cx="329184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48.3%</a:t>
            </a:r>
            <a:endParaRPr lang="en-US" sz="3600" dirty="0"/>
          </a:p>
        </p:txBody>
      </p:sp>
      <p:sp>
        <p:nvSpPr>
          <p:cNvPr id="6" name="Text 4"/>
          <p:cNvSpPr txBox="1"/>
          <p:nvPr/>
        </p:nvSpPr>
        <p:spPr>
          <a:xfrm>
            <a:off x="548640" y="4233672"/>
            <a:ext cx="3291840" cy="640080"/>
          </a:xfrm>
          <a:prstGeom prst="rect">
            <a:avLst/>
          </a:prstGeom>
          <a:noFill/>
          <a:ln/>
        </p:spPr>
        <p:txBody>
          <a:bodyPr wrap="square" lIns="0" tIns="0" rIns="0" bIns="0" rtlCol="0" anchor="t"/>
          <a:lstStyle/>
          <a:p>
            <a:pPr indent="0" marL="0">
              <a:buNone/>
            </a:pPr>
            <a:r>
              <a:rPr lang="en-US" sz="1200" dirty="0">
                <a:solidFill>
                  <a:schemeClr val="tx2"/>
                </a:solidFill>
              </a:rPr>
              <a:t>CrystaLLM: right structure at the first attempt (902 held-out materials)</a:t>
            </a:r>
            <a:endParaRPr lang="en-US" sz="1200" dirty="0"/>
          </a:p>
        </p:txBody>
      </p:sp>
      <p:sp>
        <p:nvSpPr>
          <p:cNvPr id="7" name="Text 5"/>
          <p:cNvSpPr txBox="1"/>
          <p:nvPr/>
        </p:nvSpPr>
        <p:spPr>
          <a:xfrm>
            <a:off x="4343400" y="3520440"/>
            <a:ext cx="329184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85.6%</a:t>
            </a:r>
            <a:endParaRPr lang="en-US" sz="3600" dirty="0"/>
          </a:p>
        </p:txBody>
      </p:sp>
      <p:sp>
        <p:nvSpPr>
          <p:cNvPr id="8" name="Text 6"/>
          <p:cNvSpPr txBox="1"/>
          <p:nvPr/>
        </p:nvSpPr>
        <p:spPr>
          <a:xfrm>
            <a:off x="4343400" y="4233672"/>
            <a:ext cx="3291840" cy="640080"/>
          </a:xfrm>
          <a:prstGeom prst="rect">
            <a:avLst/>
          </a:prstGeom>
          <a:noFill/>
          <a:ln/>
        </p:spPr>
        <p:txBody>
          <a:bodyPr wrap="square" lIns="0" tIns="0" rIns="0" bIns="0" rtlCol="0" anchor="t"/>
          <a:lstStyle/>
          <a:p>
            <a:pPr indent="0" marL="0">
              <a:buNone/>
            </a:pPr>
            <a:r>
              <a:rPr lang="en-US" sz="1200" dirty="0">
                <a:solidFill>
                  <a:schemeClr val="tx2"/>
                </a:solidFill>
              </a:rPr>
              <a:t>of held-out materials have a correct framework already in our knowledge graph</a:t>
            </a:r>
            <a:endParaRPr lang="en-US" sz="1200" dirty="0"/>
          </a:p>
        </p:txBody>
      </p:sp>
      <p:sp>
        <p:nvSpPr>
          <p:cNvPr id="9" name="Text 7"/>
          <p:cNvSpPr txBox="1"/>
          <p:nvPr/>
        </p:nvSpPr>
        <p:spPr>
          <a:xfrm>
            <a:off x="8138160" y="3520440"/>
            <a:ext cx="347472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90.9%</a:t>
            </a:r>
            <a:endParaRPr lang="en-US" sz="3600" dirty="0"/>
          </a:p>
        </p:txBody>
      </p:sp>
      <p:sp>
        <p:nvSpPr>
          <p:cNvPr id="10" name="Text 8"/>
          <p:cNvSpPr txBox="1"/>
          <p:nvPr/>
        </p:nvSpPr>
        <p:spPr>
          <a:xfrm>
            <a:off x="8138160" y="4233672"/>
            <a:ext cx="3474720" cy="640080"/>
          </a:xfrm>
          <a:prstGeom prst="rect">
            <a:avLst/>
          </a:prstGeom>
          <a:noFill/>
          <a:ln/>
        </p:spPr>
        <p:txBody>
          <a:bodyPr wrap="square" lIns="0" tIns="0" rIns="0" bIns="0" rtlCol="0" anchor="t"/>
          <a:lstStyle/>
          <a:p>
            <a:pPr indent="0" marL="0">
              <a:buNone/>
            </a:pPr>
            <a:r>
              <a:rPr lang="en-US" sz="1200" dirty="0">
                <a:solidFill>
                  <a:schemeClr val="tx2"/>
                </a:solidFill>
              </a:rPr>
              <a:t>with the extended graph (+5,267 Materials Project materials)</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Architecture: K-Ont template generation</a:t>
            </a:r>
            <a:endParaRPr lang="en-US" sz="3000" dirty="0"/>
          </a:p>
        </p:txBody>
      </p:sp>
      <p:sp>
        <p:nvSpPr>
          <p:cNvPr id="3" name="lane offline"/>
          <p:cNvSpPr/>
          <p:nvPr/>
        </p:nvSpPr>
        <p:spPr>
          <a:xfrm>
            <a:off x="411480" y="1188720"/>
            <a:ext cx="11384280" cy="1600200"/>
          </a:xfrm>
          <a:prstGeom prst="roundRect">
            <a:avLst>
              <a:gd name="adj" fmla="val 2857"/>
            </a:avLst>
          </a:prstGeom>
          <a:solidFill>
            <a:schemeClr val="accent2">
              <a:alpha val="5000"/>
            </a:schemeClr>
          </a:solidFill>
          <a:ln w="9525">
            <a:solidFill>
              <a:schemeClr val="accent2"/>
            </a:solidFill>
            <a:prstDash val="dash"/>
          </a:ln>
        </p:spPr>
      </p:sp>
      <p:sp>
        <p:nvSpPr>
          <p:cNvPr id="4" name="Text 2"/>
          <p:cNvSpPr txBox="1"/>
          <p:nvPr/>
        </p:nvSpPr>
        <p:spPr>
          <a:xfrm>
            <a:off x="548640" y="1243584"/>
            <a:ext cx="2011680" cy="228600"/>
          </a:xfrm>
          <a:prstGeom prst="rect">
            <a:avLst/>
          </a:prstGeom>
          <a:noFill/>
          <a:ln/>
        </p:spPr>
        <p:txBody>
          <a:bodyPr wrap="square" lIns="0" tIns="0" rIns="0" bIns="0" rtlCol="0" anchor="t"/>
          <a:lstStyle/>
          <a:p>
            <a:pPr indent="0" marL="0">
              <a:buNone/>
            </a:pPr>
            <a:r>
              <a:rPr lang="en-US" sz="1000" b="1" spc="100" kern="0" dirty="0">
                <a:solidFill>
                  <a:schemeClr val="accent2"/>
                </a:solidFill>
              </a:rPr>
              <a:t>1  OFFLINE, ONCE</a:t>
            </a:r>
            <a:endParaRPr lang="en-US" sz="1000" dirty="0"/>
          </a:p>
        </p:txBody>
      </p:sp>
      <p:sp>
        <p:nvSpPr>
          <p:cNvPr id="5" name="battGPT ontology"/>
          <p:cNvSpPr/>
          <p:nvPr/>
        </p:nvSpPr>
        <p:spPr>
          <a:xfrm>
            <a:off x="548640" y="1517904"/>
            <a:ext cx="1600200" cy="530352"/>
          </a:xfrm>
          <a:prstGeom prst="roundRect">
            <a:avLst>
              <a:gd name="adj" fmla="val 10345"/>
            </a:avLst>
          </a:prstGeom>
          <a:solidFill>
            <a:schemeClr val="accent2">
              <a:alpha val="14000"/>
            </a:schemeClr>
          </a:solidFill>
          <a:ln w="12700">
            <a:solidFill>
              <a:schemeClr val="accent2"/>
            </a:solidFill>
          </a:ln>
        </p:spPr>
        <p:txBody>
          <a:bodyPr wrap="square" lIns="50800" tIns="50800" rIns="50800" bIns="50800" rtlCol="0" anchor="ctr"/>
          <a:lstStyle/>
          <a:p>
            <a:pPr algn="ctr" indent="0" marL="0">
              <a:buNone/>
            </a:pPr>
            <a:r>
              <a:rPr lang="en-US" sz="1100" b="1" dirty="0">
                <a:solidFill>
                  <a:schemeClr val="tx1"/>
                </a:solidFill>
              </a:rPr>
              <a:t>battGPT ontology</a:t>
            </a:r>
            <a:endParaRPr lang="en-US" sz="1100" dirty="0"/>
          </a:p>
          <a:p>
            <a:pPr algn="ctr" indent="0" marL="0">
              <a:buNone/>
            </a:pPr>
            <a:r>
              <a:rPr lang="en-US" sz="1000" dirty="0">
                <a:solidFill>
                  <a:schemeClr val="tx2"/>
                </a:solidFill>
              </a:rPr>
              <a:t>classes, axioms, families</a:t>
            </a:r>
            <a:endParaRPr lang="en-US" sz="1100" dirty="0"/>
          </a:p>
        </p:txBody>
      </p:sp>
      <p:sp>
        <p:nvSpPr>
          <p:cNvPr id="6" name="Knowledge graph"/>
          <p:cNvSpPr/>
          <p:nvPr/>
        </p:nvSpPr>
        <p:spPr>
          <a:xfrm>
            <a:off x="548640" y="2157984"/>
            <a:ext cx="1600200" cy="530352"/>
          </a:xfrm>
          <a:prstGeom prst="roundRect">
            <a:avLst>
              <a:gd name="adj" fmla="val 10345"/>
            </a:avLst>
          </a:prstGeom>
          <a:solidFill>
            <a:schemeClr val="accent2">
              <a:alpha val="14000"/>
            </a:schemeClr>
          </a:solidFill>
          <a:ln w="12700">
            <a:solidFill>
              <a:schemeClr val="accent2"/>
            </a:solidFill>
          </a:ln>
        </p:spPr>
        <p:txBody>
          <a:bodyPr wrap="square" lIns="50800" tIns="50800" rIns="50800" bIns="50800" rtlCol="0" anchor="ctr"/>
          <a:lstStyle/>
          <a:p>
            <a:pPr algn="ctr" indent="0" marL="0">
              <a:buNone/>
            </a:pPr>
            <a:r>
              <a:rPr lang="en-US" sz="1100" b="1" dirty="0">
                <a:solidFill>
                  <a:schemeClr val="tx1"/>
                </a:solidFill>
              </a:rPr>
              <a:t>Knowledge graph</a:t>
            </a:r>
            <a:endParaRPr lang="en-US" sz="1100" dirty="0"/>
          </a:p>
          <a:p>
            <a:pPr algn="ctr" indent="0" marL="0">
              <a:buNone/>
            </a:pPr>
            <a:r>
              <a:rPr lang="en-US" sz="1000" dirty="0">
                <a:solidFill>
                  <a:schemeClr val="tx2"/>
                </a:solidFill>
              </a:rPr>
              <a:t>5,000 materials (MP)</a:t>
            </a:r>
            <a:endParaRPr lang="en-US" sz="1100" dirty="0"/>
          </a:p>
        </p:txBody>
      </p:sp>
      <p:sp>
        <p:nvSpPr>
          <p:cNvPr id="7" name="Verbalizer"/>
          <p:cNvSpPr/>
          <p:nvPr/>
        </p:nvSpPr>
        <p:spPr>
          <a:xfrm>
            <a:off x="2423160" y="2157984"/>
            <a:ext cx="1371600" cy="530352"/>
          </a:xfrm>
          <a:prstGeom prst="roundRect">
            <a:avLst>
              <a:gd name="adj" fmla="val 10345"/>
            </a:avLst>
          </a:prstGeom>
          <a:solidFill>
            <a:schemeClr val="accent5">
              <a:alpha val="14000"/>
            </a:schemeClr>
          </a:solidFill>
          <a:ln w="12700">
            <a:solidFill>
              <a:schemeClr val="accent5"/>
            </a:solidFill>
          </a:ln>
        </p:spPr>
        <p:txBody>
          <a:bodyPr wrap="square" lIns="50800" tIns="50800" rIns="50800" bIns="50800" rtlCol="0" anchor="ctr"/>
          <a:lstStyle/>
          <a:p>
            <a:pPr algn="ctr" indent="0" marL="0">
              <a:buNone/>
            </a:pPr>
            <a:r>
              <a:rPr lang="en-US" sz="1100" b="1" dirty="0">
                <a:solidFill>
                  <a:schemeClr val="tx1"/>
                </a:solidFill>
              </a:rPr>
              <a:t>Verbalizer</a:t>
            </a:r>
            <a:endParaRPr lang="en-US" sz="1100" dirty="0"/>
          </a:p>
          <a:p>
            <a:pPr algn="ctr" indent="0" marL="0">
              <a:buNone/>
            </a:pPr>
            <a:r>
              <a:rPr lang="en-US" sz="1000" dirty="0">
                <a:solidFill>
                  <a:schemeClr val="tx2"/>
                </a:solidFill>
              </a:rPr>
              <a:t>material → text</a:t>
            </a:r>
            <a:endParaRPr lang="en-US" sz="1100" dirty="0"/>
          </a:p>
        </p:txBody>
      </p:sp>
      <p:sp>
        <p:nvSpPr>
          <p:cNvPr id="8" name="K-Ont training"/>
          <p:cNvSpPr/>
          <p:nvPr/>
        </p:nvSpPr>
        <p:spPr>
          <a:xfrm>
            <a:off x="4114800" y="1755648"/>
            <a:ext cx="1828800" cy="731520"/>
          </a:xfrm>
          <a:prstGeom prst="roundRect">
            <a:avLst>
              <a:gd name="adj" fmla="val 7500"/>
            </a:avLst>
          </a:prstGeom>
          <a:solidFill>
            <a:schemeClr val="accent1">
              <a:alpha val="14000"/>
            </a:schemeClr>
          </a:solidFill>
          <a:ln w="12700">
            <a:solidFill>
              <a:schemeClr val="accent1"/>
            </a:solidFill>
          </a:ln>
        </p:spPr>
        <p:txBody>
          <a:bodyPr wrap="square" lIns="50800" tIns="50800" rIns="50800" bIns="50800" rtlCol="0" anchor="ctr"/>
          <a:lstStyle/>
          <a:p>
            <a:pPr algn="ctr" indent="0" marL="0">
              <a:buNone/>
            </a:pPr>
            <a:r>
              <a:rPr lang="en-US" sz="1100" b="1" dirty="0">
                <a:solidFill>
                  <a:schemeClr val="tx1"/>
                </a:solidFill>
              </a:rPr>
              <a:t>K-Ont training</a:t>
            </a:r>
            <a:endParaRPr lang="en-US" sz="1100" dirty="0"/>
          </a:p>
          <a:p>
            <a:pPr algn="ctr" indent="0" marL="0">
              <a:buNone/>
            </a:pPr>
            <a:r>
              <a:rPr lang="en-US" sz="1000" dirty="0">
                <a:solidFill>
                  <a:schemeClr val="tx2"/>
                </a:solidFill>
              </a:rPr>
              <a:t>ontology + materials in one hyperbolic space</a:t>
            </a:r>
            <a:endParaRPr lang="en-US" sz="1100" dirty="0"/>
          </a:p>
        </p:txBody>
      </p:sp>
      <p:sp>
        <p:nvSpPr>
          <p:cNvPr id="9" name="Framework retrieval"/>
          <p:cNvSpPr/>
          <p:nvPr/>
        </p:nvSpPr>
        <p:spPr>
          <a:xfrm>
            <a:off x="6263640" y="1755648"/>
            <a:ext cx="2011680" cy="731520"/>
          </a:xfrm>
          <a:prstGeom prst="roundRect">
            <a:avLst>
              <a:gd name="adj" fmla="val 7500"/>
            </a:avLst>
          </a:prstGeom>
          <a:solidFill>
            <a:schemeClr val="accent1">
              <a:alpha val="14000"/>
            </a:schemeClr>
          </a:solidFill>
          <a:ln w="12700">
            <a:solidFill>
              <a:schemeClr val="accent1"/>
            </a:solidFill>
          </a:ln>
        </p:spPr>
        <p:txBody>
          <a:bodyPr wrap="square" lIns="50800" tIns="50800" rIns="50800" bIns="50800" rtlCol="0" anchor="ctr"/>
          <a:lstStyle/>
          <a:p>
            <a:pPr algn="ctr" indent="0" marL="0">
              <a:buNone/>
            </a:pPr>
            <a:r>
              <a:rPr lang="en-US" sz="1100" b="1" dirty="0">
                <a:solidFill>
                  <a:schemeClr val="tx1"/>
                </a:solidFill>
              </a:rPr>
              <a:t>Framework retrieval</a:t>
            </a:r>
            <a:endParaRPr lang="en-US" sz="1100" dirty="0"/>
          </a:p>
          <a:p>
            <a:pPr algn="ctr" indent="0" marL="0">
              <a:buNone/>
            </a:pPr>
            <a:r>
              <a:rPr lang="en-US" sz="1000" dirty="0">
                <a:solidFill>
                  <a:schemeClr val="tx2"/>
                </a:solidFill>
              </a:rPr>
              <a:t>“has the framework of” + retention</a:t>
            </a:r>
            <a:endParaRPr lang="en-US" sz="1100" dirty="0"/>
          </a:p>
        </p:txBody>
      </p:sp>
      <p:sp>
        <p:nvSpPr>
          <p:cNvPr id="10" name="K-Ont retriever"/>
          <p:cNvSpPr/>
          <p:nvPr/>
        </p:nvSpPr>
        <p:spPr>
          <a:xfrm>
            <a:off x="8595360" y="1755648"/>
            <a:ext cx="1463040" cy="731520"/>
          </a:xfrm>
          <a:prstGeom prst="roundRect">
            <a:avLst>
              <a:gd name="adj" fmla="val 7500"/>
            </a:avLst>
          </a:prstGeom>
          <a:solidFill>
            <a:schemeClr val="accent1">
              <a:alpha val="14000"/>
            </a:schemeClr>
          </a:solidFill>
          <a:ln w="25400">
            <a:solidFill>
              <a:schemeClr val="accent1"/>
            </a:solidFill>
          </a:ln>
        </p:spPr>
        <p:txBody>
          <a:bodyPr wrap="square" lIns="50800" tIns="50800" rIns="50800" bIns="50800" rtlCol="0" anchor="ctr"/>
          <a:lstStyle/>
          <a:p>
            <a:pPr algn="ctr" indent="0" marL="0">
              <a:buNone/>
            </a:pPr>
            <a:r>
              <a:rPr lang="en-US" sz="1100" b="1" dirty="0">
                <a:solidFill>
                  <a:schemeClr val="tx1"/>
                </a:solidFill>
              </a:rPr>
              <a:t>K-Ont retriever</a:t>
            </a:r>
            <a:endParaRPr lang="en-US" sz="1100" dirty="0"/>
          </a:p>
          <a:p>
            <a:pPr algn="ctr" indent="0" marL="0">
              <a:buNone/>
            </a:pPr>
            <a:r>
              <a:rPr lang="en-US" sz="1000" dirty="0">
                <a:solidFill>
                  <a:schemeClr val="tx2"/>
                </a:solidFill>
              </a:rPr>
              <a:t>one model</a:t>
            </a:r>
            <a:endParaRPr lang="en-US" sz="1100" dirty="0"/>
          </a:p>
        </p:txBody>
      </p:sp>
      <p:sp>
        <p:nvSpPr>
          <p:cNvPr id="11" name="Template pool"/>
          <p:cNvSpPr/>
          <p:nvPr/>
        </p:nvSpPr>
        <p:spPr>
          <a:xfrm>
            <a:off x="10287000" y="1755648"/>
            <a:ext cx="1417320" cy="731520"/>
          </a:xfrm>
          <a:prstGeom prst="roundRect">
            <a:avLst>
              <a:gd name="adj" fmla="val 7500"/>
            </a:avLst>
          </a:prstGeom>
          <a:solidFill>
            <a:schemeClr val="accent2">
              <a:alpha val="14000"/>
            </a:schemeClr>
          </a:solidFill>
          <a:ln w="12700">
            <a:solidFill>
              <a:schemeClr val="accent2"/>
            </a:solidFill>
          </a:ln>
        </p:spPr>
        <p:txBody>
          <a:bodyPr wrap="square" lIns="50800" tIns="50800" rIns="50800" bIns="50800" rtlCol="0" anchor="ctr"/>
          <a:lstStyle/>
          <a:p>
            <a:pPr algn="ctr" indent="0" marL="0">
              <a:buNone/>
            </a:pPr>
            <a:r>
              <a:rPr lang="en-US" sz="1100" b="1" dirty="0">
                <a:solidFill>
                  <a:schemeClr val="tx1"/>
                </a:solidFill>
              </a:rPr>
              <a:t>Template pool</a:t>
            </a:r>
            <a:endParaRPr lang="en-US" sz="1100" dirty="0"/>
          </a:p>
          <a:p>
            <a:pPr algn="ctr" indent="0" marL="0">
              <a:buNone/>
            </a:pPr>
            <a:r>
              <a:rPr lang="en-US" sz="1000" dirty="0">
                <a:solidFill>
                  <a:schemeClr val="tx2"/>
                </a:solidFill>
              </a:rPr>
              <a:t>known structures</a:t>
            </a:r>
            <a:endParaRPr lang="en-US" sz="1100" dirty="0"/>
          </a:p>
        </p:txBody>
      </p:sp>
      <p:sp>
        <p:nvSpPr>
          <p:cNvPr id="12" name="Shape 10"/>
          <p:cNvSpPr/>
          <p:nvPr/>
        </p:nvSpPr>
        <p:spPr>
          <a:xfrm>
            <a:off x="2148840" y="1828800"/>
            <a:ext cx="1965960" cy="0"/>
          </a:xfrm>
          <a:prstGeom prst="line">
            <a:avLst/>
          </a:prstGeom>
          <a:noFill/>
          <a:ln w="15875">
            <a:solidFill>
              <a:schemeClr val="accent5"/>
            </a:solidFill>
            <a:prstDash val="solid"/>
            <a:tailEnd type="triangle"/>
          </a:ln>
        </p:spPr>
      </p:sp>
      <p:sp>
        <p:nvSpPr>
          <p:cNvPr id="13" name="Shape 11"/>
          <p:cNvSpPr/>
          <p:nvPr/>
        </p:nvSpPr>
        <p:spPr>
          <a:xfrm>
            <a:off x="2148840" y="2423160"/>
            <a:ext cx="274320" cy="0"/>
          </a:xfrm>
          <a:prstGeom prst="line">
            <a:avLst/>
          </a:prstGeom>
          <a:noFill/>
          <a:ln w="15875">
            <a:solidFill>
              <a:schemeClr val="accent5"/>
            </a:solidFill>
            <a:prstDash val="solid"/>
            <a:tailEnd type="triangle"/>
          </a:ln>
        </p:spPr>
      </p:sp>
      <p:sp>
        <p:nvSpPr>
          <p:cNvPr id="14" name="Shape 12"/>
          <p:cNvSpPr/>
          <p:nvPr/>
        </p:nvSpPr>
        <p:spPr>
          <a:xfrm>
            <a:off x="3794760" y="2331720"/>
            <a:ext cx="320040" cy="0"/>
          </a:xfrm>
          <a:prstGeom prst="line">
            <a:avLst/>
          </a:prstGeom>
          <a:noFill/>
          <a:ln w="15875">
            <a:solidFill>
              <a:schemeClr val="accent5"/>
            </a:solidFill>
            <a:prstDash val="solid"/>
            <a:tailEnd type="triangle"/>
          </a:ln>
        </p:spPr>
      </p:sp>
      <p:sp>
        <p:nvSpPr>
          <p:cNvPr id="15" name="Shape 13"/>
          <p:cNvSpPr/>
          <p:nvPr/>
        </p:nvSpPr>
        <p:spPr>
          <a:xfrm>
            <a:off x="5943600" y="2121408"/>
            <a:ext cx="320040" cy="0"/>
          </a:xfrm>
          <a:prstGeom prst="line">
            <a:avLst/>
          </a:prstGeom>
          <a:noFill/>
          <a:ln w="15875">
            <a:solidFill>
              <a:schemeClr val="accent5"/>
            </a:solidFill>
            <a:prstDash val="solid"/>
            <a:tailEnd type="triangle"/>
          </a:ln>
        </p:spPr>
      </p:sp>
      <p:sp>
        <p:nvSpPr>
          <p:cNvPr id="16" name="Shape 14"/>
          <p:cNvSpPr/>
          <p:nvPr/>
        </p:nvSpPr>
        <p:spPr>
          <a:xfrm>
            <a:off x="8275320" y="2121408"/>
            <a:ext cx="320040" cy="0"/>
          </a:xfrm>
          <a:prstGeom prst="line">
            <a:avLst/>
          </a:prstGeom>
          <a:noFill/>
          <a:ln w="15875">
            <a:solidFill>
              <a:schemeClr val="accent5"/>
            </a:solidFill>
            <a:prstDash val="solid"/>
            <a:tailEnd type="triangle"/>
          </a:ln>
        </p:spPr>
      </p:sp>
      <p:sp>
        <p:nvSpPr>
          <p:cNvPr id="17" name="Shape 15"/>
          <p:cNvSpPr/>
          <p:nvPr/>
        </p:nvSpPr>
        <p:spPr>
          <a:xfrm>
            <a:off x="1353312" y="2688336"/>
            <a:ext cx="0" cy="54864"/>
          </a:xfrm>
          <a:prstGeom prst="line">
            <a:avLst/>
          </a:prstGeom>
          <a:noFill/>
          <a:ln w="15875">
            <a:solidFill>
              <a:schemeClr val="accent2"/>
            </a:solidFill>
            <a:prstDash val="dash"/>
            <a:tailEnd type="none"/>
          </a:ln>
        </p:spPr>
      </p:sp>
      <p:sp>
        <p:nvSpPr>
          <p:cNvPr id="18" name="Shape 16"/>
          <p:cNvSpPr/>
          <p:nvPr/>
        </p:nvSpPr>
        <p:spPr>
          <a:xfrm>
            <a:off x="1353312" y="2743200"/>
            <a:ext cx="9299448" cy="0"/>
          </a:xfrm>
          <a:prstGeom prst="line">
            <a:avLst/>
          </a:prstGeom>
          <a:noFill/>
          <a:ln w="15875">
            <a:solidFill>
              <a:schemeClr val="accent2"/>
            </a:solidFill>
            <a:prstDash val="dash"/>
            <a:tailEnd type="none"/>
          </a:ln>
        </p:spPr>
      </p:sp>
      <p:sp>
        <p:nvSpPr>
          <p:cNvPr id="19" name="Shape 17"/>
          <p:cNvSpPr/>
          <p:nvPr/>
        </p:nvSpPr>
        <p:spPr>
          <a:xfrm flipV="1">
            <a:off x="10652760" y="2487168"/>
            <a:ext cx="0" cy="256032"/>
          </a:xfrm>
          <a:prstGeom prst="line">
            <a:avLst/>
          </a:prstGeom>
          <a:noFill/>
          <a:ln w="15875">
            <a:solidFill>
              <a:schemeClr val="accent2"/>
            </a:solidFill>
            <a:prstDash val="dash"/>
            <a:tailEnd type="triangle"/>
          </a:ln>
        </p:spPr>
      </p:sp>
      <p:sp>
        <p:nvSpPr>
          <p:cNvPr id="20" name="lane per composition"/>
          <p:cNvSpPr/>
          <p:nvPr/>
        </p:nvSpPr>
        <p:spPr>
          <a:xfrm>
            <a:off x="411480" y="2971800"/>
            <a:ext cx="11384280" cy="2148840"/>
          </a:xfrm>
          <a:prstGeom prst="roundRect">
            <a:avLst>
              <a:gd name="adj" fmla="val 1702"/>
            </a:avLst>
          </a:prstGeom>
          <a:solidFill>
            <a:schemeClr val="accent1">
              <a:alpha val="4000"/>
            </a:schemeClr>
          </a:solidFill>
          <a:ln w="9525">
            <a:solidFill>
              <a:schemeClr val="accent1"/>
            </a:solidFill>
            <a:prstDash val="dash"/>
          </a:ln>
        </p:spPr>
      </p:sp>
      <p:sp>
        <p:nvSpPr>
          <p:cNvPr id="21" name="Text 19"/>
          <p:cNvSpPr txBox="1"/>
          <p:nvPr/>
        </p:nvSpPr>
        <p:spPr>
          <a:xfrm>
            <a:off x="548640" y="3026664"/>
            <a:ext cx="164592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2  PER COMPOSITION</a:t>
            </a:r>
            <a:endParaRPr lang="en-US" sz="1000" dirty="0"/>
          </a:p>
        </p:txBody>
      </p:sp>
      <p:sp>
        <p:nvSpPr>
          <p:cNvPr id="22" name="New composition"/>
          <p:cNvSpPr/>
          <p:nvPr/>
        </p:nvSpPr>
        <p:spPr>
          <a:xfrm>
            <a:off x="548640" y="3657600"/>
            <a:ext cx="1417320" cy="731520"/>
          </a:xfrm>
          <a:prstGeom prst="roundRect">
            <a:avLst>
              <a:gd name="adj" fmla="val 7500"/>
            </a:avLst>
          </a:prstGeom>
          <a:solidFill>
            <a:schemeClr val="accent5">
              <a:alpha val="14000"/>
            </a:schemeClr>
          </a:solidFill>
          <a:ln w="12700">
            <a:solidFill>
              <a:schemeClr val="accent5"/>
            </a:solidFill>
          </a:ln>
        </p:spPr>
        <p:txBody>
          <a:bodyPr wrap="square" lIns="50800" tIns="50800" rIns="50800" bIns="50800" rtlCol="0" anchor="ctr"/>
          <a:lstStyle/>
          <a:p>
            <a:pPr algn="ctr" indent="0" marL="0">
              <a:buNone/>
            </a:pPr>
            <a:r>
              <a:rPr lang="en-US" sz="1100" b="1" dirty="0">
                <a:solidFill>
                  <a:schemeClr val="tx1"/>
                </a:solidFill>
              </a:rPr>
              <a:t>New composition</a:t>
            </a:r>
            <a:endParaRPr lang="en-US" sz="1100" dirty="0"/>
          </a:p>
          <a:p>
            <a:pPr algn="ctr" indent="0" marL="0">
              <a:buNone/>
            </a:pPr>
            <a:r>
              <a:rPr lang="en-US" sz="1000" dirty="0">
                <a:solidFill>
                  <a:schemeClr val="tx2"/>
                </a:solidFill>
              </a:rPr>
              <a:t>e.g. NaMnPO₄</a:t>
            </a:r>
            <a:endParaRPr lang="en-US" sz="1100" dirty="0"/>
          </a:p>
        </p:txBody>
      </p:sp>
      <p:sp>
        <p:nvSpPr>
          <p:cNvPr id="23" name="Same-pattern candidates"/>
          <p:cNvSpPr/>
          <p:nvPr/>
        </p:nvSpPr>
        <p:spPr>
          <a:xfrm>
            <a:off x="2240280" y="3200400"/>
            <a:ext cx="1691640" cy="640080"/>
          </a:xfrm>
          <a:prstGeom prst="roundRect">
            <a:avLst>
              <a:gd name="adj" fmla="val 8571"/>
            </a:avLst>
          </a:prstGeom>
          <a:solidFill>
            <a:schemeClr val="accent2">
              <a:alpha val="14000"/>
            </a:schemeClr>
          </a:solidFill>
          <a:ln w="12700">
            <a:solidFill>
              <a:schemeClr val="accent2"/>
            </a:solidFill>
          </a:ln>
        </p:spPr>
        <p:txBody>
          <a:bodyPr wrap="square" lIns="50800" tIns="50800" rIns="50800" bIns="50800" rtlCol="0" anchor="ctr"/>
          <a:lstStyle/>
          <a:p>
            <a:pPr algn="ctr" indent="0" marL="0">
              <a:buNone/>
            </a:pPr>
            <a:r>
              <a:rPr lang="en-US" sz="1100" b="1" dirty="0">
                <a:solidFill>
                  <a:schemeClr val="tx1"/>
                </a:solidFill>
              </a:rPr>
              <a:t>Same-pattern candidates</a:t>
            </a:r>
            <a:endParaRPr lang="en-US" sz="1100" dirty="0"/>
          </a:p>
          <a:p>
            <a:pPr algn="ctr" indent="0" marL="0">
              <a:buNone/>
            </a:pPr>
            <a:r>
              <a:rPr lang="en-US" sz="1000" dirty="0">
                <a:solidFill>
                  <a:schemeClr val="tx2"/>
                </a:solidFill>
              </a:rPr>
              <a:t>ABCD₄ → LiFePO₄, …</a:t>
            </a:r>
            <a:endParaRPr lang="en-US" sz="1100" dirty="0"/>
          </a:p>
        </p:txBody>
      </p:sp>
      <p:sp>
        <p:nvSpPr>
          <p:cNvPr id="24" name="Structure-free description"/>
          <p:cNvSpPr/>
          <p:nvPr/>
        </p:nvSpPr>
        <p:spPr>
          <a:xfrm>
            <a:off x="2240280" y="4206240"/>
            <a:ext cx="1691640" cy="640080"/>
          </a:xfrm>
          <a:prstGeom prst="roundRect">
            <a:avLst>
              <a:gd name="adj" fmla="val 8571"/>
            </a:avLst>
          </a:prstGeom>
          <a:solidFill>
            <a:schemeClr val="accent5">
              <a:alpha val="14000"/>
            </a:schemeClr>
          </a:solidFill>
          <a:ln w="12700">
            <a:solidFill>
              <a:schemeClr val="accent5"/>
            </a:solidFill>
          </a:ln>
        </p:spPr>
        <p:txBody>
          <a:bodyPr wrap="square" lIns="50800" tIns="50800" rIns="50800" bIns="50800" rtlCol="0" anchor="ctr"/>
          <a:lstStyle/>
          <a:p>
            <a:pPr algn="ctr" indent="0" marL="0">
              <a:buNone/>
            </a:pPr>
            <a:r>
              <a:rPr lang="en-US" sz="1100" b="1" dirty="0">
                <a:solidFill>
                  <a:schemeClr val="tx1"/>
                </a:solidFill>
              </a:rPr>
              <a:t>Structure-free description</a:t>
            </a:r>
            <a:endParaRPr lang="en-US" sz="1100" dirty="0"/>
          </a:p>
          <a:p>
            <a:pPr algn="ctr" indent="0" marL="0">
              <a:buNone/>
            </a:pPr>
            <a:r>
              <a:rPr lang="en-US" sz="1000" dirty="0">
                <a:solidFill>
                  <a:schemeClr val="tx2"/>
                </a:solidFill>
              </a:rPr>
              <a:t>formula, elements, chemistry</a:t>
            </a:r>
            <a:endParaRPr lang="en-US" sz="1100" dirty="0"/>
          </a:p>
        </p:txBody>
      </p:sp>
      <p:sp>
        <p:nvSpPr>
          <p:cNvPr id="25" name="Rank frameworks"/>
          <p:cNvSpPr/>
          <p:nvPr/>
        </p:nvSpPr>
        <p:spPr>
          <a:xfrm>
            <a:off x="4251960" y="3611880"/>
            <a:ext cx="1783080" cy="777240"/>
          </a:xfrm>
          <a:prstGeom prst="roundRect">
            <a:avLst>
              <a:gd name="adj" fmla="val 7059"/>
            </a:avLst>
          </a:prstGeom>
          <a:solidFill>
            <a:schemeClr val="accent1">
              <a:alpha val="14000"/>
            </a:schemeClr>
          </a:solidFill>
          <a:ln w="12700">
            <a:solidFill>
              <a:schemeClr val="accent1"/>
            </a:solidFill>
          </a:ln>
        </p:spPr>
        <p:txBody>
          <a:bodyPr wrap="square" lIns="50800" tIns="50800" rIns="50800" bIns="50800" rtlCol="0" anchor="ctr"/>
          <a:lstStyle/>
          <a:p>
            <a:pPr algn="ctr" indent="0" marL="0">
              <a:buNone/>
            </a:pPr>
            <a:r>
              <a:rPr lang="en-US" sz="1100" b="1" dirty="0">
                <a:solidFill>
                  <a:schemeClr val="tx1"/>
                </a:solidFill>
              </a:rPr>
              <a:t>Rank frameworks</a:t>
            </a:r>
            <a:endParaRPr lang="en-US" sz="1100" dirty="0"/>
          </a:p>
          <a:p>
            <a:pPr algn="ctr" indent="0" marL="0">
              <a:buNone/>
            </a:pPr>
            <a:r>
              <a:rPr lang="en-US" sz="1000" dirty="0">
                <a:solidFill>
                  <a:schemeClr val="tx2"/>
                </a:solidFill>
              </a:rPr>
              <a:t>K-Ont similarity + ranker → top 3</a:t>
            </a:r>
            <a:endParaRPr lang="en-US" sz="1100" dirty="0"/>
          </a:p>
        </p:txBody>
      </p:sp>
      <p:sp>
        <p:nvSpPr>
          <p:cNvPr id="26" name="Element substitution"/>
          <p:cNvSpPr/>
          <p:nvPr/>
        </p:nvSpPr>
        <p:spPr>
          <a:xfrm>
            <a:off x="6355080" y="3246120"/>
            <a:ext cx="1783080" cy="731520"/>
          </a:xfrm>
          <a:prstGeom prst="roundRect">
            <a:avLst>
              <a:gd name="adj" fmla="val 7500"/>
            </a:avLst>
          </a:prstGeom>
          <a:solidFill>
            <a:schemeClr val="accent2">
              <a:alpha val="14000"/>
            </a:schemeClr>
          </a:solidFill>
          <a:ln w="12700">
            <a:solidFill>
              <a:schemeClr val="accent2"/>
            </a:solidFill>
          </a:ln>
        </p:spPr>
        <p:txBody>
          <a:bodyPr wrap="square" lIns="50800" tIns="50800" rIns="50800" bIns="50800" rtlCol="0" anchor="ctr"/>
          <a:lstStyle/>
          <a:p>
            <a:pPr algn="ctr" indent="0" marL="0">
              <a:buNone/>
            </a:pPr>
            <a:r>
              <a:rPr lang="en-US" sz="1100" b="1" dirty="0">
                <a:solidFill>
                  <a:schemeClr val="tx1"/>
                </a:solidFill>
              </a:rPr>
              <a:t>Element substitution</a:t>
            </a:r>
            <a:endParaRPr lang="en-US" sz="1100" dirty="0"/>
          </a:p>
          <a:p>
            <a:pPr algn="ctr" indent="0" marL="0">
              <a:buNone/>
            </a:pPr>
            <a:r>
              <a:rPr lang="en-US" sz="1000" dirty="0">
                <a:solidFill>
                  <a:schemeClr val="tx2"/>
                </a:solidFill>
              </a:rPr>
              <a:t>3 template structures</a:t>
            </a:r>
            <a:endParaRPr lang="en-US" sz="1100" dirty="0"/>
          </a:p>
        </p:txBody>
      </p:sp>
      <p:sp>
        <p:nvSpPr>
          <p:cNvPr id="27" name="CrystaLLM"/>
          <p:cNvSpPr/>
          <p:nvPr/>
        </p:nvSpPr>
        <p:spPr>
          <a:xfrm>
            <a:off x="6355080" y="4206240"/>
            <a:ext cx="1783080" cy="685800"/>
          </a:xfrm>
          <a:prstGeom prst="roundRect">
            <a:avLst>
              <a:gd name="adj" fmla="val 8000"/>
            </a:avLst>
          </a:prstGeom>
          <a:solidFill>
            <a:schemeClr val="accent3">
              <a:alpha val="14000"/>
            </a:schemeClr>
          </a:solidFill>
          <a:ln w="12700">
            <a:solidFill>
              <a:schemeClr val="accent3"/>
            </a:solidFill>
          </a:ln>
        </p:spPr>
        <p:txBody>
          <a:bodyPr wrap="square" lIns="50800" tIns="50800" rIns="50800" bIns="50800" rtlCol="0" anchor="ctr"/>
          <a:lstStyle/>
          <a:p>
            <a:pPr algn="ctr" indent="0" marL="0">
              <a:buNone/>
            </a:pPr>
            <a:r>
              <a:rPr lang="en-US" sz="1100" b="1" dirty="0">
                <a:solidFill>
                  <a:schemeClr val="tx1"/>
                </a:solidFill>
              </a:rPr>
              <a:t>CrystaLLM</a:t>
            </a:r>
            <a:endParaRPr lang="en-US" sz="1100" dirty="0"/>
          </a:p>
          <a:p>
            <a:pPr algn="ctr" indent="0" marL="0">
              <a:buNone/>
            </a:pPr>
            <a:r>
              <a:rPr lang="en-US" sz="1000" dirty="0">
                <a:solidFill>
                  <a:schemeClr val="tx2"/>
                </a:solidFill>
              </a:rPr>
              <a:t>5 samples</a:t>
            </a:r>
            <a:endParaRPr lang="en-US" sz="1100" dirty="0"/>
          </a:p>
        </p:txBody>
      </p:sp>
      <p:sp>
        <p:nvSpPr>
          <p:cNvPr id="28" name="CHGNet relaxation"/>
          <p:cNvSpPr/>
          <p:nvPr/>
        </p:nvSpPr>
        <p:spPr>
          <a:xfrm>
            <a:off x="8458200" y="3657600"/>
            <a:ext cx="1645920" cy="777240"/>
          </a:xfrm>
          <a:prstGeom prst="roundRect">
            <a:avLst>
              <a:gd name="adj" fmla="val 7059"/>
            </a:avLst>
          </a:prstGeom>
          <a:solidFill>
            <a:schemeClr val="accent4">
              <a:alpha val="14000"/>
            </a:schemeClr>
          </a:solidFill>
          <a:ln w="12700">
            <a:solidFill>
              <a:schemeClr val="accent4"/>
            </a:solidFill>
          </a:ln>
        </p:spPr>
        <p:txBody>
          <a:bodyPr wrap="square" lIns="50800" tIns="50800" rIns="50800" bIns="50800" rtlCol="0" anchor="ctr"/>
          <a:lstStyle/>
          <a:p>
            <a:pPr algn="ctr" indent="0" marL="0">
              <a:buNone/>
            </a:pPr>
            <a:r>
              <a:rPr lang="en-US" sz="1100" b="1" dirty="0">
                <a:solidFill>
                  <a:schemeClr val="tx1"/>
                </a:solidFill>
              </a:rPr>
              <a:t>CHGNet relaxation</a:t>
            </a:r>
            <a:endParaRPr lang="en-US" sz="1100" dirty="0"/>
          </a:p>
          <a:p>
            <a:pPr algn="ctr" indent="0" marL="0">
              <a:buNone/>
            </a:pPr>
            <a:r>
              <a:rPr lang="en-US" sz="1000" dirty="0">
                <a:solidFill>
                  <a:schemeClr val="tx2"/>
                </a:solidFill>
              </a:rPr>
              <a:t>lowest energy of 8 wins</a:t>
            </a:r>
            <a:endParaRPr lang="en-US" sz="1100" dirty="0"/>
          </a:p>
        </p:txBody>
      </p:sp>
      <p:sp>
        <p:nvSpPr>
          <p:cNvPr id="29" name="Predicted structure"/>
          <p:cNvSpPr/>
          <p:nvPr/>
        </p:nvSpPr>
        <p:spPr>
          <a:xfrm>
            <a:off x="10378440" y="3703320"/>
            <a:ext cx="1325880" cy="685800"/>
          </a:xfrm>
          <a:prstGeom prst="roundRect">
            <a:avLst>
              <a:gd name="adj" fmla="val 8000"/>
            </a:avLst>
          </a:prstGeom>
          <a:solidFill>
            <a:schemeClr val="accent5">
              <a:alpha val="14000"/>
            </a:schemeClr>
          </a:solidFill>
          <a:ln w="25400">
            <a:solidFill>
              <a:schemeClr val="accent5"/>
            </a:solidFill>
          </a:ln>
        </p:spPr>
        <p:txBody>
          <a:bodyPr wrap="square" lIns="50800" tIns="50800" rIns="50800" bIns="50800" rtlCol="0" anchor="ctr"/>
          <a:lstStyle/>
          <a:p>
            <a:pPr algn="ctr" indent="0" marL="0">
              <a:buNone/>
            </a:pPr>
            <a:r>
              <a:rPr lang="en-US" sz="1100" b="1" dirty="0">
                <a:solidFill>
                  <a:schemeClr val="tx1"/>
                </a:solidFill>
              </a:rPr>
              <a:t>Predicted structure</a:t>
            </a:r>
            <a:endParaRPr lang="en-US" sz="1100" dirty="0"/>
          </a:p>
          <a:p>
            <a:pPr algn="ctr" indent="0" marL="0">
              <a:buNone/>
            </a:pPr>
            <a:r>
              <a:rPr lang="en-US" sz="1000" dirty="0">
                <a:solidFill>
                  <a:schemeClr val="tx2"/>
                </a:solidFill>
              </a:rPr>
              <a:t>one CIF</a:t>
            </a:r>
            <a:endParaRPr lang="en-US" sz="1100" dirty="0"/>
          </a:p>
        </p:txBody>
      </p:sp>
      <p:sp>
        <p:nvSpPr>
          <p:cNvPr id="30" name="Shape 28"/>
          <p:cNvSpPr/>
          <p:nvPr/>
        </p:nvSpPr>
        <p:spPr>
          <a:xfrm>
            <a:off x="1965960" y="3749040"/>
            <a:ext cx="274320" cy="0"/>
          </a:xfrm>
          <a:prstGeom prst="line">
            <a:avLst/>
          </a:prstGeom>
          <a:noFill/>
          <a:ln w="15875">
            <a:solidFill>
              <a:schemeClr val="accent5"/>
            </a:solidFill>
            <a:prstDash val="solid"/>
            <a:tailEnd type="triangle"/>
          </a:ln>
        </p:spPr>
      </p:sp>
      <p:sp>
        <p:nvSpPr>
          <p:cNvPr id="31" name="Shape 29"/>
          <p:cNvSpPr/>
          <p:nvPr/>
        </p:nvSpPr>
        <p:spPr>
          <a:xfrm>
            <a:off x="1965960" y="4297680"/>
            <a:ext cx="274320" cy="0"/>
          </a:xfrm>
          <a:prstGeom prst="line">
            <a:avLst/>
          </a:prstGeom>
          <a:noFill/>
          <a:ln w="15875">
            <a:solidFill>
              <a:schemeClr val="accent5"/>
            </a:solidFill>
            <a:prstDash val="solid"/>
            <a:tailEnd type="triangle"/>
          </a:ln>
        </p:spPr>
      </p:sp>
      <p:sp>
        <p:nvSpPr>
          <p:cNvPr id="32" name="Shape 30"/>
          <p:cNvSpPr/>
          <p:nvPr/>
        </p:nvSpPr>
        <p:spPr>
          <a:xfrm>
            <a:off x="3931920" y="3703320"/>
            <a:ext cx="320040" cy="0"/>
          </a:xfrm>
          <a:prstGeom prst="line">
            <a:avLst/>
          </a:prstGeom>
          <a:noFill/>
          <a:ln w="15875">
            <a:solidFill>
              <a:schemeClr val="accent5"/>
            </a:solidFill>
            <a:prstDash val="solid"/>
            <a:tailEnd type="triangle"/>
          </a:ln>
        </p:spPr>
      </p:sp>
      <p:sp>
        <p:nvSpPr>
          <p:cNvPr id="33" name="Shape 31"/>
          <p:cNvSpPr/>
          <p:nvPr/>
        </p:nvSpPr>
        <p:spPr>
          <a:xfrm>
            <a:off x="3931920" y="4297680"/>
            <a:ext cx="320040" cy="0"/>
          </a:xfrm>
          <a:prstGeom prst="line">
            <a:avLst/>
          </a:prstGeom>
          <a:noFill/>
          <a:ln w="15875">
            <a:solidFill>
              <a:schemeClr val="accent5"/>
            </a:solidFill>
            <a:prstDash val="solid"/>
            <a:tailEnd type="triangle"/>
          </a:ln>
        </p:spPr>
      </p:sp>
      <p:sp>
        <p:nvSpPr>
          <p:cNvPr id="34" name="Shape 32"/>
          <p:cNvSpPr/>
          <p:nvPr/>
        </p:nvSpPr>
        <p:spPr>
          <a:xfrm>
            <a:off x="6035040" y="3749040"/>
            <a:ext cx="320040" cy="0"/>
          </a:xfrm>
          <a:prstGeom prst="line">
            <a:avLst/>
          </a:prstGeom>
          <a:noFill/>
          <a:ln w="15875">
            <a:solidFill>
              <a:schemeClr val="accent5"/>
            </a:solidFill>
            <a:prstDash val="solid"/>
            <a:tailEnd type="triangle"/>
          </a:ln>
        </p:spPr>
      </p:sp>
      <p:sp>
        <p:nvSpPr>
          <p:cNvPr id="35" name="Shape 33"/>
          <p:cNvSpPr/>
          <p:nvPr/>
        </p:nvSpPr>
        <p:spPr>
          <a:xfrm>
            <a:off x="1261872" y="4389120"/>
            <a:ext cx="0" cy="612648"/>
          </a:xfrm>
          <a:prstGeom prst="line">
            <a:avLst/>
          </a:prstGeom>
          <a:noFill/>
          <a:ln w="15875">
            <a:solidFill>
              <a:schemeClr val="accent5"/>
            </a:solidFill>
            <a:prstDash val="solid"/>
            <a:tailEnd type="none"/>
          </a:ln>
        </p:spPr>
      </p:sp>
      <p:sp>
        <p:nvSpPr>
          <p:cNvPr id="36" name="Shape 34"/>
          <p:cNvSpPr/>
          <p:nvPr/>
        </p:nvSpPr>
        <p:spPr>
          <a:xfrm>
            <a:off x="1261872" y="5001768"/>
            <a:ext cx="5980176" cy="0"/>
          </a:xfrm>
          <a:prstGeom prst="line">
            <a:avLst/>
          </a:prstGeom>
          <a:noFill/>
          <a:ln w="15875">
            <a:solidFill>
              <a:schemeClr val="accent5"/>
            </a:solidFill>
            <a:prstDash val="solid"/>
            <a:tailEnd type="none"/>
          </a:ln>
        </p:spPr>
      </p:sp>
      <p:sp>
        <p:nvSpPr>
          <p:cNvPr id="37" name="Shape 35"/>
          <p:cNvSpPr/>
          <p:nvPr/>
        </p:nvSpPr>
        <p:spPr>
          <a:xfrm flipV="1">
            <a:off x="7242048" y="4892040"/>
            <a:ext cx="0" cy="109728"/>
          </a:xfrm>
          <a:prstGeom prst="line">
            <a:avLst/>
          </a:prstGeom>
          <a:noFill/>
          <a:ln w="15875">
            <a:solidFill>
              <a:schemeClr val="accent5"/>
            </a:solidFill>
            <a:prstDash val="solid"/>
            <a:tailEnd type="triangle"/>
          </a:ln>
        </p:spPr>
      </p:sp>
      <p:sp>
        <p:nvSpPr>
          <p:cNvPr id="38" name="Shape 36"/>
          <p:cNvSpPr/>
          <p:nvPr/>
        </p:nvSpPr>
        <p:spPr>
          <a:xfrm>
            <a:off x="8138160" y="3794760"/>
            <a:ext cx="320040" cy="0"/>
          </a:xfrm>
          <a:prstGeom prst="line">
            <a:avLst/>
          </a:prstGeom>
          <a:noFill/>
          <a:ln w="15875">
            <a:solidFill>
              <a:schemeClr val="accent5"/>
            </a:solidFill>
            <a:prstDash val="solid"/>
            <a:tailEnd type="triangle"/>
          </a:ln>
        </p:spPr>
      </p:sp>
      <p:sp>
        <p:nvSpPr>
          <p:cNvPr id="39" name="Shape 37"/>
          <p:cNvSpPr/>
          <p:nvPr/>
        </p:nvSpPr>
        <p:spPr>
          <a:xfrm>
            <a:off x="8138160" y="4343400"/>
            <a:ext cx="320040" cy="0"/>
          </a:xfrm>
          <a:prstGeom prst="line">
            <a:avLst/>
          </a:prstGeom>
          <a:noFill/>
          <a:ln w="15875">
            <a:solidFill>
              <a:schemeClr val="accent5"/>
            </a:solidFill>
            <a:prstDash val="solid"/>
            <a:tailEnd type="triangle"/>
          </a:ln>
        </p:spPr>
      </p:sp>
      <p:sp>
        <p:nvSpPr>
          <p:cNvPr id="40" name="Shape 38"/>
          <p:cNvSpPr/>
          <p:nvPr/>
        </p:nvSpPr>
        <p:spPr>
          <a:xfrm>
            <a:off x="10104120" y="4041648"/>
            <a:ext cx="274320" cy="0"/>
          </a:xfrm>
          <a:prstGeom prst="line">
            <a:avLst/>
          </a:prstGeom>
          <a:noFill/>
          <a:ln w="15875">
            <a:solidFill>
              <a:schemeClr val="accent5"/>
            </a:solidFill>
            <a:prstDash val="solid"/>
            <a:tailEnd type="triangle"/>
          </a:ln>
        </p:spPr>
      </p:sp>
      <p:sp>
        <p:nvSpPr>
          <p:cNvPr id="41" name="Shape 39"/>
          <p:cNvSpPr/>
          <p:nvPr/>
        </p:nvSpPr>
        <p:spPr>
          <a:xfrm>
            <a:off x="9326880" y="2487168"/>
            <a:ext cx="0" cy="365760"/>
          </a:xfrm>
          <a:prstGeom prst="line">
            <a:avLst/>
          </a:prstGeom>
          <a:noFill/>
          <a:ln w="15875">
            <a:solidFill>
              <a:schemeClr val="accent1"/>
            </a:solidFill>
            <a:prstDash val="solid"/>
            <a:tailEnd type="none"/>
          </a:ln>
        </p:spPr>
      </p:sp>
      <p:sp>
        <p:nvSpPr>
          <p:cNvPr id="42" name="Shape 40"/>
          <p:cNvSpPr/>
          <p:nvPr/>
        </p:nvSpPr>
        <p:spPr>
          <a:xfrm flipH="1">
            <a:off x="5138928" y="2852928"/>
            <a:ext cx="4187952" cy="0"/>
          </a:xfrm>
          <a:prstGeom prst="line">
            <a:avLst/>
          </a:prstGeom>
          <a:noFill/>
          <a:ln w="15875">
            <a:solidFill>
              <a:schemeClr val="accent1"/>
            </a:solidFill>
            <a:prstDash val="solid"/>
            <a:tailEnd type="none"/>
          </a:ln>
        </p:spPr>
      </p:sp>
      <p:sp>
        <p:nvSpPr>
          <p:cNvPr id="43" name="Shape 41"/>
          <p:cNvSpPr/>
          <p:nvPr/>
        </p:nvSpPr>
        <p:spPr>
          <a:xfrm>
            <a:off x="5138928" y="2852928"/>
            <a:ext cx="0" cy="758952"/>
          </a:xfrm>
          <a:prstGeom prst="line">
            <a:avLst/>
          </a:prstGeom>
          <a:noFill/>
          <a:ln w="15875">
            <a:solidFill>
              <a:schemeClr val="accent1"/>
            </a:solidFill>
            <a:prstDash val="solid"/>
            <a:tailEnd type="triangle"/>
          </a:ln>
        </p:spPr>
      </p:sp>
      <p:sp>
        <p:nvSpPr>
          <p:cNvPr id="44" name="Shape 42"/>
          <p:cNvSpPr/>
          <p:nvPr/>
        </p:nvSpPr>
        <p:spPr>
          <a:xfrm>
            <a:off x="11338560" y="2487168"/>
            <a:ext cx="0" cy="603504"/>
          </a:xfrm>
          <a:prstGeom prst="line">
            <a:avLst/>
          </a:prstGeom>
          <a:noFill/>
          <a:ln w="15875">
            <a:solidFill>
              <a:schemeClr val="accent2"/>
            </a:solidFill>
            <a:prstDash val="dash"/>
            <a:tailEnd type="none"/>
          </a:ln>
        </p:spPr>
      </p:sp>
      <p:sp>
        <p:nvSpPr>
          <p:cNvPr id="45" name="Shape 43"/>
          <p:cNvSpPr/>
          <p:nvPr/>
        </p:nvSpPr>
        <p:spPr>
          <a:xfrm flipH="1">
            <a:off x="3081528" y="3090672"/>
            <a:ext cx="8257032" cy="0"/>
          </a:xfrm>
          <a:prstGeom prst="line">
            <a:avLst/>
          </a:prstGeom>
          <a:noFill/>
          <a:ln w="15875">
            <a:solidFill>
              <a:schemeClr val="accent2"/>
            </a:solidFill>
            <a:prstDash val="dash"/>
            <a:tailEnd type="none"/>
          </a:ln>
        </p:spPr>
      </p:sp>
      <p:sp>
        <p:nvSpPr>
          <p:cNvPr id="46" name="Shape 44"/>
          <p:cNvSpPr/>
          <p:nvPr/>
        </p:nvSpPr>
        <p:spPr>
          <a:xfrm>
            <a:off x="3081528" y="3090672"/>
            <a:ext cx="0" cy="109728"/>
          </a:xfrm>
          <a:prstGeom prst="line">
            <a:avLst/>
          </a:prstGeom>
          <a:noFill/>
          <a:ln w="15875">
            <a:solidFill>
              <a:schemeClr val="accent2"/>
            </a:solidFill>
            <a:prstDash val="dash"/>
            <a:tailEnd type="triangle"/>
          </a:ln>
        </p:spPr>
      </p:sp>
      <p:sp>
        <p:nvSpPr>
          <p:cNvPr id="47" name="Text 45"/>
          <p:cNvSpPr txBox="1"/>
          <p:nvPr/>
        </p:nvSpPr>
        <p:spPr>
          <a:xfrm>
            <a:off x="548640" y="5303520"/>
            <a:ext cx="265176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60.5%</a:t>
            </a:r>
            <a:endParaRPr lang="en-US" sz="2400" dirty="0"/>
          </a:p>
        </p:txBody>
      </p:sp>
      <p:sp>
        <p:nvSpPr>
          <p:cNvPr id="48" name="Text 46"/>
          <p:cNvSpPr txBox="1"/>
          <p:nvPr/>
        </p:nvSpPr>
        <p:spPr>
          <a:xfrm>
            <a:off x="548640" y="5806440"/>
            <a:ext cx="2651760" cy="457200"/>
          </a:xfrm>
          <a:prstGeom prst="rect">
            <a:avLst/>
          </a:prstGeom>
          <a:noFill/>
          <a:ln/>
        </p:spPr>
        <p:txBody>
          <a:bodyPr wrap="square" lIns="0" tIns="0" rIns="0" bIns="0" rtlCol="0" anchor="t"/>
          <a:lstStyle/>
          <a:p>
            <a:pPr indent="0" marL="0">
              <a:buNone/>
            </a:pPr>
            <a:r>
              <a:rPr lang="en-US" sz="1100" dirty="0">
                <a:solidFill>
                  <a:schemeClr val="tx2"/>
                </a:solidFill>
              </a:rPr>
              <a:t>right at the 1st attempt (CrystaLLM 48.3%)</a:t>
            </a:r>
            <a:endParaRPr lang="en-US" sz="1100" dirty="0"/>
          </a:p>
        </p:txBody>
      </p:sp>
      <p:sp>
        <p:nvSpPr>
          <p:cNvPr id="49" name="Text 47"/>
          <p:cNvSpPr txBox="1"/>
          <p:nvPr/>
        </p:nvSpPr>
        <p:spPr>
          <a:xfrm>
            <a:off x="3383280" y="5303520"/>
            <a:ext cx="265176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77.3%</a:t>
            </a:r>
            <a:endParaRPr lang="en-US" sz="2400" dirty="0"/>
          </a:p>
        </p:txBody>
      </p:sp>
      <p:sp>
        <p:nvSpPr>
          <p:cNvPr id="50" name="Text 48"/>
          <p:cNvSpPr txBox="1"/>
          <p:nvPr/>
        </p:nvSpPr>
        <p:spPr>
          <a:xfrm>
            <a:off x="3383280" y="5806440"/>
            <a:ext cx="2651760" cy="457200"/>
          </a:xfrm>
          <a:prstGeom prst="rect">
            <a:avLst/>
          </a:prstGeom>
          <a:noFill/>
          <a:ln/>
        </p:spPr>
        <p:txBody>
          <a:bodyPr wrap="square" lIns="0" tIns="0" rIns="0" bIns="0" rtlCol="0" anchor="t"/>
          <a:lstStyle/>
          <a:p>
            <a:pPr indent="0" marL="0">
              <a:buNone/>
            </a:pPr>
            <a:r>
              <a:rPr lang="en-US" sz="1100" dirty="0">
                <a:solidFill>
                  <a:schemeClr val="tx2"/>
                </a:solidFill>
              </a:rPr>
              <a:t>right within 8 attempts (CrystaLLM 68.3%)</a:t>
            </a:r>
            <a:endParaRPr lang="en-US" sz="1100" dirty="0"/>
          </a:p>
        </p:txBody>
      </p:sp>
      <p:sp>
        <p:nvSpPr>
          <p:cNvPr id="51" name="Text 49"/>
          <p:cNvSpPr txBox="1"/>
          <p:nvPr/>
        </p:nvSpPr>
        <p:spPr>
          <a:xfrm>
            <a:off x="6217920" y="5303520"/>
            <a:ext cx="265176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69.3%</a:t>
            </a:r>
            <a:endParaRPr lang="en-US" sz="2400" dirty="0"/>
          </a:p>
        </p:txBody>
      </p:sp>
      <p:sp>
        <p:nvSpPr>
          <p:cNvPr id="52" name="Text 50"/>
          <p:cNvSpPr txBox="1"/>
          <p:nvPr/>
        </p:nvSpPr>
        <p:spPr>
          <a:xfrm>
            <a:off x="6217920" y="5806440"/>
            <a:ext cx="2651760" cy="457200"/>
          </a:xfrm>
          <a:prstGeom prst="rect">
            <a:avLst/>
          </a:prstGeom>
          <a:noFill/>
          <a:ln/>
        </p:spPr>
        <p:txBody>
          <a:bodyPr wrap="square" lIns="0" tIns="0" rIns="0" bIns="0" rtlCol="0" anchor="t"/>
          <a:lstStyle/>
          <a:p>
            <a:pPr indent="0" marL="0">
              <a:buNone/>
            </a:pPr>
            <a:r>
              <a:rPr lang="en-US" sz="1100" dirty="0">
                <a:solidFill>
                  <a:schemeClr val="tx2"/>
                </a:solidFill>
              </a:rPr>
              <a:t>one committed answer (CrystaLLM 63.7%)</a:t>
            </a:r>
            <a:endParaRPr lang="en-US" sz="1100" dirty="0"/>
          </a:p>
        </p:txBody>
      </p:sp>
      <p:sp>
        <p:nvSpPr>
          <p:cNvPr id="53" name="Text 51"/>
          <p:cNvSpPr txBox="1"/>
          <p:nvPr/>
        </p:nvSpPr>
        <p:spPr>
          <a:xfrm>
            <a:off x="9052560" y="5303520"/>
            <a:ext cx="2651760" cy="50292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32 / 34</a:t>
            </a:r>
            <a:endParaRPr lang="en-US" sz="2400" dirty="0"/>
          </a:p>
        </p:txBody>
      </p:sp>
      <p:sp>
        <p:nvSpPr>
          <p:cNvPr id="54" name="Text 52"/>
          <p:cNvSpPr txBox="1"/>
          <p:nvPr/>
        </p:nvSpPr>
        <p:spPr>
          <a:xfrm>
            <a:off x="9052560" y="5806440"/>
            <a:ext cx="2651760" cy="457200"/>
          </a:xfrm>
          <a:prstGeom prst="rect">
            <a:avLst/>
          </a:prstGeom>
          <a:noFill/>
          <a:ln/>
        </p:spPr>
        <p:txBody>
          <a:bodyPr wrap="square" lIns="0" tIns="0" rIns="0" bIns="0" rtlCol="0" anchor="t"/>
          <a:lstStyle/>
          <a:p>
            <a:pPr indent="0" marL="0">
              <a:buNone/>
            </a:pPr>
            <a:r>
              <a:rPr lang="en-US" sz="1100" dirty="0">
                <a:solidFill>
                  <a:schemeClr val="tx2"/>
                </a:solidFill>
              </a:rPr>
              <a:t>novel cathodes confirmed more stable</a:t>
            </a:r>
            <a:endParaRPr lang="en-US" sz="11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Component 1: battGPT, the knowledge source</a:t>
            </a:r>
            <a:endParaRPr lang="en-US" sz="3000" dirty="0"/>
          </a:p>
        </p:txBody>
      </p:sp>
      <p:sp>
        <p:nvSpPr>
          <p:cNvPr id="3" name="Text 1"/>
          <p:cNvSpPr txBox="1"/>
          <p:nvPr/>
        </p:nvSpPr>
        <p:spPr>
          <a:xfrm>
            <a:off x="548640" y="1280160"/>
            <a:ext cx="6035040" cy="4114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OWL 2 DL ontology extending EMMO and BattINFO (the European materials and battery ontologies)</a:t>
            </a:r>
            <a:endParaRPr lang="en-US" sz="1500" dirty="0"/>
          </a:p>
          <a:p>
            <a:pPr marL="342900" indent="-342900">
              <a:spcAft>
                <a:spcPts val="800"/>
              </a:spcAft>
              <a:buSzPct val="100000"/>
              <a:buChar char="•"/>
            </a:pPr>
            <a:r>
              <a:rPr lang="en-US" sz="1500" dirty="0">
                <a:solidFill>
                  <a:schemeClr val="tx1"/>
                </a:solidFill>
              </a:rPr>
              <a:t>Extension I, crystallography: crystal structure, unit cell, space group, sites, species, bonds, DFT properties</a:t>
            </a:r>
            <a:endParaRPr lang="en-US" sz="1500" dirty="0"/>
          </a:p>
          <a:p>
            <a:pPr marL="342900" indent="-342900">
              <a:spcAft>
                <a:spcPts val="800"/>
              </a:spcAft>
              <a:buSzPct val="100000"/>
              <a:buChar char="•"/>
            </a:pPr>
            <a:r>
              <a:rPr lang="en-US" sz="1500" dirty="0">
                <a:solidFill>
                  <a:schemeClr val="tx1"/>
                </a:solidFill>
              </a:rPr>
              <a:t>Extension II, structure families: layered oxide, spinel, rock salt, olivine, NASICON, garnet, perovskite, LGPS, argyrodite</a:t>
            </a:r>
            <a:endParaRPr lang="en-US" sz="1500" dirty="0"/>
          </a:p>
          <a:p>
            <a:pPr marL="342900" indent="-342900">
              <a:spcAft>
                <a:spcPts val="800"/>
              </a:spcAft>
              <a:buSzPct val="100000"/>
              <a:buChar char="•"/>
            </a:pPr>
            <a:r>
              <a:rPr lang="en-US" sz="1500" dirty="0">
                <a:solidFill>
                  <a:schemeClr val="tx1"/>
                </a:solidFill>
              </a:rPr>
              <a:t>Population pipeline: Materials Project → pymatgen analysis → RDF knowledge graph, checked with the ELK and HermiT reasoners</a:t>
            </a:r>
            <a:endParaRPr lang="en-US" sz="1500" dirty="0"/>
          </a:p>
        </p:txBody>
      </p:sp>
      <p:sp>
        <p:nvSpPr>
          <p:cNvPr id="4" name="Text 2"/>
          <p:cNvSpPr txBox="1"/>
          <p:nvPr/>
        </p:nvSpPr>
        <p:spPr>
          <a:xfrm>
            <a:off x="7040880" y="1325880"/>
            <a:ext cx="219456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5,000</a:t>
            </a:r>
            <a:endParaRPr lang="en-US" sz="3600" dirty="0"/>
          </a:p>
        </p:txBody>
      </p:sp>
      <p:sp>
        <p:nvSpPr>
          <p:cNvPr id="5" name="Text 3"/>
          <p:cNvSpPr txBox="1"/>
          <p:nvPr/>
        </p:nvSpPr>
        <p:spPr>
          <a:xfrm>
            <a:off x="7040880" y="2039112"/>
            <a:ext cx="2194560" cy="640080"/>
          </a:xfrm>
          <a:prstGeom prst="rect">
            <a:avLst/>
          </a:prstGeom>
          <a:noFill/>
          <a:ln/>
        </p:spPr>
        <p:txBody>
          <a:bodyPr wrap="square" lIns="0" tIns="0" rIns="0" bIns="0" rtlCol="0" anchor="t"/>
          <a:lstStyle/>
          <a:p>
            <a:pPr indent="0" marL="0">
              <a:buNone/>
            </a:pPr>
            <a:r>
              <a:rPr lang="en-US" sz="1200" dirty="0">
                <a:solidFill>
                  <a:schemeClr val="tx2"/>
                </a:solidFill>
              </a:rPr>
              <a:t>Li/Na materials, each with its known crystal structure</a:t>
            </a:r>
            <a:endParaRPr lang="en-US" sz="1200" dirty="0"/>
          </a:p>
        </p:txBody>
      </p:sp>
      <p:sp>
        <p:nvSpPr>
          <p:cNvPr id="6" name="Text 4"/>
          <p:cNvSpPr txBox="1"/>
          <p:nvPr/>
        </p:nvSpPr>
        <p:spPr>
          <a:xfrm>
            <a:off x="9418320" y="1325880"/>
            <a:ext cx="228600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5.6 M</a:t>
            </a:r>
            <a:endParaRPr lang="en-US" sz="3600" dirty="0"/>
          </a:p>
        </p:txBody>
      </p:sp>
      <p:sp>
        <p:nvSpPr>
          <p:cNvPr id="7" name="Text 5"/>
          <p:cNvSpPr txBox="1"/>
          <p:nvPr/>
        </p:nvSpPr>
        <p:spPr>
          <a:xfrm>
            <a:off x="9418320" y="2039112"/>
            <a:ext cx="2286000" cy="640080"/>
          </a:xfrm>
          <a:prstGeom prst="rect">
            <a:avLst/>
          </a:prstGeom>
          <a:noFill/>
          <a:ln/>
        </p:spPr>
        <p:txBody>
          <a:bodyPr wrap="square" lIns="0" tIns="0" rIns="0" bIns="0" rtlCol="0" anchor="t"/>
          <a:lstStyle/>
          <a:p>
            <a:pPr indent="0" marL="0">
              <a:buNone/>
            </a:pPr>
            <a:r>
              <a:rPr lang="en-US" sz="1200" dirty="0">
                <a:solidFill>
                  <a:schemeClr val="tx2"/>
                </a:solidFill>
              </a:rPr>
              <a:t>triples in the knowledge graph</a:t>
            </a:r>
            <a:endParaRPr lang="en-US" sz="1200" dirty="0"/>
          </a:p>
        </p:txBody>
      </p:sp>
      <p:sp>
        <p:nvSpPr>
          <p:cNvPr id="8" name="Text 6"/>
          <p:cNvSpPr txBox="1"/>
          <p:nvPr/>
        </p:nvSpPr>
        <p:spPr>
          <a:xfrm>
            <a:off x="7040880" y="3063240"/>
            <a:ext cx="219456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9</a:t>
            </a:r>
            <a:endParaRPr lang="en-US" sz="3600" dirty="0"/>
          </a:p>
        </p:txBody>
      </p:sp>
      <p:sp>
        <p:nvSpPr>
          <p:cNvPr id="9" name="Text 7"/>
          <p:cNvSpPr txBox="1"/>
          <p:nvPr/>
        </p:nvSpPr>
        <p:spPr>
          <a:xfrm>
            <a:off x="7040880" y="3776472"/>
            <a:ext cx="2194560" cy="640080"/>
          </a:xfrm>
          <a:prstGeom prst="rect">
            <a:avLst/>
          </a:prstGeom>
          <a:noFill/>
          <a:ln/>
        </p:spPr>
        <p:txBody>
          <a:bodyPr wrap="square" lIns="0" tIns="0" rIns="0" bIns="0" rtlCol="0" anchor="t"/>
          <a:lstStyle/>
          <a:p>
            <a:pPr indent="0" marL="0">
              <a:buNone/>
            </a:pPr>
            <a:r>
              <a:rPr lang="en-US" sz="1200" dirty="0">
                <a:solidFill>
                  <a:schemeClr val="tx2"/>
                </a:solidFill>
              </a:rPr>
              <a:t>disjoint structure-family classes</a:t>
            </a:r>
            <a:endParaRPr lang="en-US" sz="1200" dirty="0"/>
          </a:p>
        </p:txBody>
      </p:sp>
      <p:sp>
        <p:nvSpPr>
          <p:cNvPr id="10" name="Text 8"/>
          <p:cNvSpPr txBox="1"/>
          <p:nvPr/>
        </p:nvSpPr>
        <p:spPr>
          <a:xfrm>
            <a:off x="9418320" y="3063240"/>
            <a:ext cx="228600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+5,267</a:t>
            </a:r>
            <a:endParaRPr lang="en-US" sz="3600" dirty="0"/>
          </a:p>
        </p:txBody>
      </p:sp>
      <p:sp>
        <p:nvSpPr>
          <p:cNvPr id="11" name="Text 9"/>
          <p:cNvSpPr txBox="1"/>
          <p:nvPr/>
        </p:nvSpPr>
        <p:spPr>
          <a:xfrm>
            <a:off x="9418320" y="3776472"/>
            <a:ext cx="2286000" cy="640080"/>
          </a:xfrm>
          <a:prstGeom prst="rect">
            <a:avLst/>
          </a:prstGeom>
          <a:noFill/>
          <a:ln/>
        </p:spPr>
        <p:txBody>
          <a:bodyPr wrap="square" lIns="0" tIns="0" rIns="0" bIns="0" rtlCol="0" anchor="t"/>
          <a:lstStyle/>
          <a:p>
            <a:pPr indent="0" marL="0">
              <a:buNone/>
            </a:pPr>
            <a:r>
              <a:rPr lang="en-US" sz="1200" dirty="0">
                <a:solidFill>
                  <a:schemeClr val="tx2"/>
                </a:solidFill>
              </a:rPr>
              <a:t>materials in the extended template pool</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Component 2: the K-Ont encoder</a:t>
            </a:r>
            <a:endParaRPr lang="en-US" sz="3000" dirty="0"/>
          </a:p>
        </p:txBody>
      </p:sp>
      <p:sp>
        <p:nvSpPr>
          <p:cNvPr id="3" name="Poincare ball"/>
          <p:cNvSpPr/>
          <p:nvPr/>
        </p:nvSpPr>
        <p:spPr>
          <a:xfrm>
            <a:off x="731520" y="1417320"/>
            <a:ext cx="3291840" cy="3291840"/>
          </a:xfrm>
          <a:prstGeom prst="ellipse">
            <a:avLst/>
          </a:prstGeom>
          <a:solidFill>
            <a:schemeClr val="accent2">
              <a:alpha val="12000"/>
            </a:schemeClr>
          </a:solidFill>
          <a:ln w="15875">
            <a:solidFill>
              <a:schemeClr val="accent2"/>
            </a:solidFill>
            <a:prstDash val="solid"/>
          </a:ln>
        </p:spPr>
      </p:sp>
      <p:sp>
        <p:nvSpPr>
          <p:cNvPr id="4" name="Shape 2"/>
          <p:cNvSpPr/>
          <p:nvPr/>
        </p:nvSpPr>
        <p:spPr>
          <a:xfrm>
            <a:off x="1691640" y="2377440"/>
            <a:ext cx="1371600" cy="1371600"/>
          </a:xfrm>
          <a:prstGeom prst="ellipse">
            <a:avLst/>
          </a:prstGeom>
          <a:ln w="9525">
            <a:solidFill>
              <a:schemeClr val="accent5"/>
            </a:solidFill>
            <a:prstDash val="dash"/>
          </a:ln>
        </p:spPr>
      </p:sp>
      <p:sp>
        <p:nvSpPr>
          <p:cNvPr id="5" name="Shape 3"/>
          <p:cNvSpPr/>
          <p:nvPr/>
        </p:nvSpPr>
        <p:spPr>
          <a:xfrm>
            <a:off x="2286000" y="2971800"/>
            <a:ext cx="182880" cy="182880"/>
          </a:xfrm>
          <a:prstGeom prst="ellipse">
            <a:avLst/>
          </a:prstGeom>
          <a:solidFill>
            <a:schemeClr val="accent1"/>
          </a:solidFill>
          <a:ln w="12700">
            <a:solidFill>
              <a:schemeClr val="accent1"/>
            </a:solidFill>
            <a:prstDash val="solid"/>
          </a:ln>
        </p:spPr>
      </p:sp>
      <p:sp>
        <p:nvSpPr>
          <p:cNvPr id="6" name="Shape 4"/>
          <p:cNvSpPr/>
          <p:nvPr/>
        </p:nvSpPr>
        <p:spPr>
          <a:xfrm>
            <a:off x="2331720" y="2286000"/>
            <a:ext cx="146304" cy="146304"/>
          </a:xfrm>
          <a:prstGeom prst="ellipse">
            <a:avLst/>
          </a:prstGeom>
          <a:solidFill>
            <a:schemeClr val="accent2"/>
          </a:solidFill>
          <a:ln w="12700">
            <a:solidFill>
              <a:schemeClr val="accent2"/>
            </a:solidFill>
            <a:prstDash val="solid"/>
          </a:ln>
        </p:spPr>
      </p:sp>
      <p:sp>
        <p:nvSpPr>
          <p:cNvPr id="7" name="Shape 5"/>
          <p:cNvSpPr/>
          <p:nvPr/>
        </p:nvSpPr>
        <p:spPr>
          <a:xfrm>
            <a:off x="1554480" y="3383280"/>
            <a:ext cx="146304" cy="146304"/>
          </a:xfrm>
          <a:prstGeom prst="ellipse">
            <a:avLst/>
          </a:prstGeom>
          <a:solidFill>
            <a:schemeClr val="accent2"/>
          </a:solidFill>
          <a:ln w="12700">
            <a:solidFill>
              <a:schemeClr val="accent2"/>
            </a:solidFill>
            <a:prstDash val="solid"/>
          </a:ln>
        </p:spPr>
      </p:sp>
      <p:sp>
        <p:nvSpPr>
          <p:cNvPr id="8" name="Shape 6"/>
          <p:cNvSpPr/>
          <p:nvPr/>
        </p:nvSpPr>
        <p:spPr>
          <a:xfrm>
            <a:off x="3063240" y="3429000"/>
            <a:ext cx="146304" cy="146304"/>
          </a:xfrm>
          <a:prstGeom prst="ellipse">
            <a:avLst/>
          </a:prstGeom>
          <a:solidFill>
            <a:schemeClr val="accent2"/>
          </a:solidFill>
          <a:ln w="12700">
            <a:solidFill>
              <a:schemeClr val="accent2"/>
            </a:solidFill>
            <a:prstDash val="solid"/>
          </a:ln>
        </p:spPr>
      </p:sp>
      <p:sp>
        <p:nvSpPr>
          <p:cNvPr id="9" name="Shape 7"/>
          <p:cNvSpPr/>
          <p:nvPr/>
        </p:nvSpPr>
        <p:spPr>
          <a:xfrm>
            <a:off x="2834640" y="1600200"/>
            <a:ext cx="146304" cy="146304"/>
          </a:xfrm>
          <a:prstGeom prst="ellipse">
            <a:avLst/>
          </a:prstGeom>
          <a:solidFill>
            <a:schemeClr val="bg1"/>
          </a:solidFill>
          <a:ln w="19050">
            <a:solidFill>
              <a:schemeClr val="accent1"/>
            </a:solidFill>
            <a:prstDash val="solid"/>
          </a:ln>
        </p:spPr>
      </p:sp>
      <p:sp>
        <p:nvSpPr>
          <p:cNvPr id="10" name="Shape 8"/>
          <p:cNvSpPr/>
          <p:nvPr/>
        </p:nvSpPr>
        <p:spPr>
          <a:xfrm>
            <a:off x="914400" y="3611880"/>
            <a:ext cx="146304" cy="146304"/>
          </a:xfrm>
          <a:prstGeom prst="ellipse">
            <a:avLst/>
          </a:prstGeom>
          <a:solidFill>
            <a:schemeClr val="bg1"/>
          </a:solidFill>
          <a:ln w="19050">
            <a:solidFill>
              <a:schemeClr val="accent1"/>
            </a:solidFill>
            <a:prstDash val="solid"/>
          </a:ln>
        </p:spPr>
      </p:sp>
      <p:sp>
        <p:nvSpPr>
          <p:cNvPr id="11" name="Shape 9"/>
          <p:cNvSpPr/>
          <p:nvPr/>
        </p:nvSpPr>
        <p:spPr>
          <a:xfrm>
            <a:off x="3474720" y="4114800"/>
            <a:ext cx="146304" cy="146304"/>
          </a:xfrm>
          <a:prstGeom prst="ellipse">
            <a:avLst/>
          </a:prstGeom>
          <a:solidFill>
            <a:schemeClr val="bg1"/>
          </a:solidFill>
          <a:ln w="19050">
            <a:solidFill>
              <a:schemeClr val="accent1"/>
            </a:solidFill>
            <a:prstDash val="solid"/>
          </a:ln>
        </p:spPr>
      </p:sp>
      <p:sp>
        <p:nvSpPr>
          <p:cNvPr id="12" name="Text 10"/>
          <p:cNvSpPr txBox="1"/>
          <p:nvPr/>
        </p:nvSpPr>
        <p:spPr>
          <a:xfrm>
            <a:off x="548640" y="4846320"/>
            <a:ext cx="3749040" cy="640080"/>
          </a:xfrm>
          <a:prstGeom prst="rect">
            <a:avLst/>
          </a:prstGeom>
          <a:noFill/>
          <a:ln/>
        </p:spPr>
        <p:txBody>
          <a:bodyPr wrap="square" lIns="0" tIns="0" rIns="0" bIns="0" rtlCol="0" anchor="t"/>
          <a:lstStyle/>
          <a:p>
            <a:pPr algn="ctr" indent="0" marL="0">
              <a:buNone/>
            </a:pPr>
            <a:r>
              <a:rPr lang="en-US" sz="1100" dirty="0">
                <a:solidFill>
                  <a:schemeClr val="tx2"/>
                </a:solidFill>
              </a:rPr>
              <a:t>general concepts near the centre · families further out · individual materials (open circles) near the edge</a:t>
            </a:r>
            <a:endParaRPr lang="en-US" sz="1100" dirty="0"/>
          </a:p>
        </p:txBody>
      </p:sp>
      <p:sp>
        <p:nvSpPr>
          <p:cNvPr id="13" name="Axiom rows (from the ontology)"/>
          <p:cNvSpPr/>
          <p:nvPr/>
        </p:nvSpPr>
        <p:spPr>
          <a:xfrm>
            <a:off x="4754880" y="1371600"/>
            <a:ext cx="6903720" cy="868680"/>
          </a:xfrm>
          <a:prstGeom prst="roundRect">
            <a:avLst>
              <a:gd name="adj" fmla="val 6316"/>
            </a:avLst>
          </a:prstGeom>
          <a:solidFill>
            <a:schemeClr val="accent1">
              <a:alpha val="14000"/>
            </a:schemeClr>
          </a:solidFill>
          <a:ln w="12700">
            <a:solidFill>
              <a:schemeClr val="accent1"/>
            </a:solidFill>
          </a:ln>
        </p:spPr>
        <p:txBody>
          <a:bodyPr wrap="square" lIns="50800" tIns="50800" rIns="50800" bIns="50800" rtlCol="0" anchor="ctr"/>
          <a:lstStyle/>
          <a:p>
            <a:pPr algn="l" indent="0" marL="0">
              <a:buNone/>
            </a:pPr>
            <a:r>
              <a:rPr lang="en-US" sz="1400" b="1" dirty="0">
                <a:solidFill>
                  <a:schemeClr val="tx1"/>
                </a:solidFill>
              </a:rPr>
              <a:t>Axiom rows (from the ontology)</a:t>
            </a:r>
            <a:endParaRPr lang="en-US" sz="1400" dirty="0"/>
          </a:p>
          <a:p>
            <a:pPr algn="l" indent="0" marL="0">
              <a:buNone/>
            </a:pPr>
            <a:r>
              <a:rPr lang="en-US" sz="1200" dirty="0">
                <a:solidFill>
                  <a:schemeClr val="tx2"/>
                </a:solidFill>
              </a:rPr>
              <a:t>C ⊑ D, e.g. olivine ⊑ polyanion family; existential restrictions via role rotations</a:t>
            </a:r>
            <a:endParaRPr lang="en-US" sz="1400" dirty="0"/>
          </a:p>
        </p:txBody>
      </p:sp>
      <p:sp>
        <p:nvSpPr>
          <p:cNvPr id="14" name="Typing rows (from the knowledge graph)"/>
          <p:cNvSpPr/>
          <p:nvPr/>
        </p:nvSpPr>
        <p:spPr>
          <a:xfrm>
            <a:off x="4754880" y="2377440"/>
            <a:ext cx="6903720" cy="868680"/>
          </a:xfrm>
          <a:prstGeom prst="roundRect">
            <a:avLst>
              <a:gd name="adj" fmla="val 6316"/>
            </a:avLst>
          </a:prstGeom>
          <a:solidFill>
            <a:schemeClr val="accent2">
              <a:alpha val="14000"/>
            </a:schemeClr>
          </a:solidFill>
          <a:ln w="12700">
            <a:solidFill>
              <a:schemeClr val="accent2"/>
            </a:solidFill>
          </a:ln>
        </p:spPr>
        <p:txBody>
          <a:bodyPr wrap="square" lIns="50800" tIns="50800" rIns="50800" bIns="50800" rtlCol="0" anchor="ctr"/>
          <a:lstStyle/>
          <a:p>
            <a:pPr algn="l" indent="0" marL="0">
              <a:buNone/>
            </a:pPr>
            <a:r>
              <a:rPr lang="en-US" sz="1400" b="1" dirty="0">
                <a:solidFill>
                  <a:schemeClr val="tx1"/>
                </a:solidFill>
              </a:rPr>
              <a:t>Typing rows (from the knowledge graph)</a:t>
            </a:r>
            <a:endParaRPr lang="en-US" sz="1400" dirty="0"/>
          </a:p>
          <a:p>
            <a:pPr algn="l" indent="0" marL="0">
              <a:buNone/>
            </a:pPr>
            <a:r>
              <a:rPr lang="en-US" sz="1200" dirty="0">
                <a:solidFill>
                  <a:schemeClr val="tx2"/>
                </a:solidFill>
              </a:rPr>
              <a:t>each material's text description ⊑ its class, e.g. ⊑ substance</a:t>
            </a:r>
            <a:endParaRPr lang="en-US" sz="1400" dirty="0"/>
          </a:p>
        </p:txBody>
      </p:sp>
      <p:sp>
        <p:nvSpPr>
          <p:cNvPr id="15" name="Relation rows (from the knowledge graph)"/>
          <p:cNvSpPr/>
          <p:nvPr/>
        </p:nvSpPr>
        <p:spPr>
          <a:xfrm>
            <a:off x="4754880" y="3383280"/>
            <a:ext cx="6903720" cy="868680"/>
          </a:xfrm>
          <a:prstGeom prst="roundRect">
            <a:avLst>
              <a:gd name="adj" fmla="val 6316"/>
            </a:avLst>
          </a:prstGeom>
          <a:solidFill>
            <a:schemeClr val="accent2">
              <a:alpha val="14000"/>
            </a:schemeClr>
          </a:solidFill>
          <a:ln w="12700">
            <a:solidFill>
              <a:schemeClr val="accent2"/>
            </a:solidFill>
          </a:ln>
        </p:spPr>
        <p:txBody>
          <a:bodyPr wrap="square" lIns="50800" tIns="50800" rIns="50800" bIns="50800" rtlCol="0" anchor="ctr"/>
          <a:lstStyle/>
          <a:p>
            <a:pPr algn="l" indent="0" marL="0">
              <a:buNone/>
            </a:pPr>
            <a:r>
              <a:rPr lang="en-US" sz="1400" b="1" dirty="0">
                <a:solidFill>
                  <a:schemeClr val="tx1"/>
                </a:solidFill>
              </a:rPr>
              <a:t>Relation rows (from the knowledge graph)</a:t>
            </a:r>
            <a:endParaRPr lang="en-US" sz="1400" dirty="0"/>
          </a:p>
          <a:p>
            <a:pPr algn="l" indent="0" marL="0">
              <a:buNone/>
            </a:pPr>
            <a:r>
              <a:rPr lang="en-US" sz="1200" dirty="0">
                <a:solidFill>
                  <a:schemeClr val="tx2"/>
                </a:solidFill>
              </a:rPr>
              <a:t>material ⊑ ∃ has structure . crystal, with in-batch negatives</a:t>
            </a:r>
            <a:endParaRPr lang="en-US" sz="1400" dirty="0"/>
          </a:p>
        </p:txBody>
      </p:sp>
      <p:sp>
        <p:nvSpPr>
          <p:cNvPr id="16" name="Text 14"/>
          <p:cNvSpPr txBox="1"/>
          <p:nvPr/>
        </p:nvSpPr>
        <p:spPr>
          <a:xfrm>
            <a:off x="4754880" y="4526280"/>
            <a:ext cx="6903720" cy="822960"/>
          </a:xfrm>
          <a:prstGeom prst="rect">
            <a:avLst/>
          </a:prstGeom>
          <a:noFill/>
          <a:ln/>
        </p:spPr>
        <p:txBody>
          <a:bodyPr wrap="square" lIns="0" tIns="0" rIns="0" bIns="0" rtlCol="0" anchor="t"/>
          <a:lstStyle/>
          <a:p>
            <a:pPr indent="0" marL="0">
              <a:buNone/>
            </a:pPr>
            <a:r>
              <a:rPr lang="en-US" sz="1400" b="1" dirty="0">
                <a:solidFill>
                  <a:schemeClr val="tx1"/>
                </a:solidFill>
              </a:rPr>
              <a:t>Held-out typing: </a:t>
            </a:r>
            <a:pPr indent="0" marL="0">
              <a:buNone/>
            </a:pPr>
            <a:r>
              <a:rPr lang="en-US" sz="1400" dirty="0">
                <a:solidFill>
                  <a:schemeClr val="tx1"/>
                </a:solidFill>
              </a:rPr>
              <a:t>1.000 with the ontology's axioms vs 0.641 without; hierarchy MRR 0.969 vs 0.313. The ontology is what gives K-Ont its type reasoning.</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Component 3: teaching K-Ont to find frameworks</a:t>
            </a:r>
            <a:endParaRPr lang="en-US" sz="3000" dirty="0"/>
          </a:p>
        </p:txBody>
      </p:sp>
      <p:sp>
        <p:nvSpPr>
          <p:cNvPr id="3" name="Query"/>
          <p:cNvSpPr/>
          <p:nvPr/>
        </p:nvSpPr>
        <p:spPr>
          <a:xfrm>
            <a:off x="548640" y="1371600"/>
            <a:ext cx="3200400" cy="1371600"/>
          </a:xfrm>
          <a:prstGeom prst="roundRect">
            <a:avLst>
              <a:gd name="adj" fmla="val 4000"/>
            </a:avLst>
          </a:prstGeom>
          <a:solidFill>
            <a:schemeClr val="accent5">
              <a:alpha val="14000"/>
            </a:schemeClr>
          </a:solidFill>
          <a:ln w="12700">
            <a:solidFill>
              <a:schemeClr val="accent5"/>
            </a:solidFill>
          </a:ln>
        </p:spPr>
        <p:txBody>
          <a:bodyPr wrap="square" lIns="50800" tIns="50800" rIns="50800" bIns="50800" rtlCol="0" anchor="ctr"/>
          <a:lstStyle/>
          <a:p>
            <a:pPr algn="ctr" indent="0" marL="0">
              <a:buNone/>
            </a:pPr>
            <a:r>
              <a:rPr lang="en-US" sz="1500" b="1" dirty="0">
                <a:solidFill>
                  <a:schemeClr val="tx1"/>
                </a:solidFill>
              </a:rPr>
              <a:t>Query</a:t>
            </a:r>
            <a:endParaRPr lang="en-US" sz="1500" dirty="0"/>
          </a:p>
          <a:p>
            <a:pPr algn="ctr" indent="0" marL="0">
              <a:buNone/>
            </a:pPr>
            <a:r>
              <a:rPr lang="en-US" sz="1200" dirty="0">
                <a:solidFill>
                  <a:schemeClr val="tx2"/>
                </a:solidFill>
              </a:rPr>
              <a:t>a material's description WITHOUT its structure: formula, elements, chemistry (all a new composition has)</a:t>
            </a:r>
            <a:endParaRPr lang="en-US" sz="1500" dirty="0"/>
          </a:p>
        </p:txBody>
      </p:sp>
      <p:sp>
        <p:nvSpPr>
          <p:cNvPr id="4" name="has the framework of"/>
          <p:cNvSpPr/>
          <p:nvPr/>
        </p:nvSpPr>
        <p:spPr>
          <a:xfrm>
            <a:off x="4526280" y="1371600"/>
            <a:ext cx="3017520" cy="1371600"/>
          </a:xfrm>
          <a:prstGeom prst="roundRect">
            <a:avLst>
              <a:gd name="adj" fmla="val 4000"/>
            </a:avLst>
          </a:prstGeom>
          <a:solidFill>
            <a:schemeClr val="accent1">
              <a:alpha val="14000"/>
            </a:schemeClr>
          </a:solidFill>
          <a:ln w="12700">
            <a:solidFill>
              <a:schemeClr val="accent1"/>
            </a:solidFill>
          </a:ln>
        </p:spPr>
        <p:txBody>
          <a:bodyPr wrap="square" lIns="50800" tIns="50800" rIns="50800" bIns="50800" rtlCol="0" anchor="ctr"/>
          <a:lstStyle/>
          <a:p>
            <a:pPr algn="ctr" indent="0" marL="0">
              <a:buNone/>
            </a:pPr>
            <a:r>
              <a:rPr lang="en-US" sz="1500" b="1" dirty="0">
                <a:solidFill>
                  <a:schemeClr val="tx1"/>
                </a:solidFill>
              </a:rPr>
              <a:t>has the framework of</a:t>
            </a:r>
            <a:endParaRPr lang="en-US" sz="1500" dirty="0"/>
          </a:p>
          <a:p>
            <a:pPr algn="ctr" indent="0" marL="0">
              <a:buNone/>
            </a:pPr>
            <a:r>
              <a:rPr lang="en-US" sz="1200" dirty="0">
                <a:solidFill>
                  <a:schemeClr val="tx2"/>
                </a:solidFill>
              </a:rPr>
              <a:t>new relation learned by K-Ont</a:t>
            </a:r>
            <a:endParaRPr lang="en-US" sz="1500" dirty="0"/>
          </a:p>
        </p:txBody>
      </p:sp>
      <p:sp>
        <p:nvSpPr>
          <p:cNvPr id="5" name="Answer"/>
          <p:cNvSpPr/>
          <p:nvPr/>
        </p:nvSpPr>
        <p:spPr>
          <a:xfrm>
            <a:off x="8321040" y="1371600"/>
            <a:ext cx="3337560" cy="1371600"/>
          </a:xfrm>
          <a:prstGeom prst="roundRect">
            <a:avLst>
              <a:gd name="adj" fmla="val 4000"/>
            </a:avLst>
          </a:prstGeom>
          <a:solidFill>
            <a:schemeClr val="accent2">
              <a:alpha val="14000"/>
            </a:schemeClr>
          </a:solidFill>
          <a:ln w="12700">
            <a:solidFill>
              <a:schemeClr val="accent2"/>
            </a:solidFill>
          </a:ln>
        </p:spPr>
        <p:txBody>
          <a:bodyPr wrap="square" lIns="50800" tIns="50800" rIns="50800" bIns="50800" rtlCol="0" anchor="ctr"/>
          <a:lstStyle/>
          <a:p>
            <a:pPr algn="ctr" indent="0" marL="0">
              <a:buNone/>
            </a:pPr>
            <a:r>
              <a:rPr lang="en-US" sz="1500" b="1" dirty="0">
                <a:solidFill>
                  <a:schemeClr val="tx1"/>
                </a:solidFill>
              </a:rPr>
              <a:t>Answer</a:t>
            </a:r>
            <a:endParaRPr lang="en-US" sz="1500" dirty="0"/>
          </a:p>
          <a:p>
            <a:pPr algn="ctr" indent="0" marL="0">
              <a:buNone/>
            </a:pPr>
            <a:r>
              <a:rPr lang="en-US" sz="1200" dirty="0">
                <a:solidFill>
                  <a:schemeClr val="tx2"/>
                </a:solidFill>
              </a:rPr>
              <a:t>the FULL description (with space group, lattice, sites) of a known material sharing its framework</a:t>
            </a:r>
            <a:endParaRPr lang="en-US" sz="1500" dirty="0"/>
          </a:p>
        </p:txBody>
      </p:sp>
      <p:sp>
        <p:nvSpPr>
          <p:cNvPr id="6" name="Shape 4"/>
          <p:cNvSpPr/>
          <p:nvPr/>
        </p:nvSpPr>
        <p:spPr>
          <a:xfrm>
            <a:off x="3749040" y="2057400"/>
            <a:ext cx="777240" cy="0"/>
          </a:xfrm>
          <a:prstGeom prst="line">
            <a:avLst/>
          </a:prstGeom>
          <a:noFill/>
          <a:ln w="15875">
            <a:solidFill>
              <a:schemeClr val="accent1"/>
            </a:solidFill>
            <a:prstDash val="solid"/>
            <a:tailEnd type="triangle"/>
          </a:ln>
        </p:spPr>
      </p:sp>
      <p:sp>
        <p:nvSpPr>
          <p:cNvPr id="7" name="Shape 5"/>
          <p:cNvSpPr/>
          <p:nvPr/>
        </p:nvSpPr>
        <p:spPr>
          <a:xfrm>
            <a:off x="7543800" y="2057400"/>
            <a:ext cx="777240" cy="0"/>
          </a:xfrm>
          <a:prstGeom prst="line">
            <a:avLst/>
          </a:prstGeom>
          <a:noFill/>
          <a:ln w="15875">
            <a:solidFill>
              <a:schemeClr val="accent1"/>
            </a:solidFill>
            <a:prstDash val="solid"/>
            <a:tailEnd type="triangle"/>
          </a:ln>
        </p:spPr>
      </p:sp>
      <p:sp>
        <p:nvSpPr>
          <p:cNvPr id="8" name="Problem: catastrophic forgetting"/>
          <p:cNvSpPr/>
          <p:nvPr/>
        </p:nvSpPr>
        <p:spPr>
          <a:xfrm>
            <a:off x="548640" y="3246120"/>
            <a:ext cx="5394960" cy="1463040"/>
          </a:xfrm>
          <a:prstGeom prst="roundRect">
            <a:avLst>
              <a:gd name="adj" fmla="val 3750"/>
            </a:avLst>
          </a:prstGeom>
          <a:solidFill>
            <a:schemeClr val="accent6">
              <a:alpha val="14000"/>
            </a:schemeClr>
          </a:solidFill>
          <a:ln w="12700">
            <a:solidFill>
              <a:schemeClr val="accent6"/>
            </a:solidFill>
          </a:ln>
        </p:spPr>
        <p:txBody>
          <a:bodyPr wrap="square" lIns="50800" tIns="50800" rIns="50800" bIns="50800" rtlCol="0" anchor="ctr"/>
          <a:lstStyle/>
          <a:p>
            <a:pPr algn="l" indent="0" marL="0">
              <a:buNone/>
            </a:pPr>
            <a:r>
              <a:rPr lang="en-US" sz="1500" b="1" dirty="0">
                <a:solidFill>
                  <a:schemeClr val="tx1"/>
                </a:solidFill>
              </a:rPr>
              <a:t>Problem: catastrophic forgetting</a:t>
            </a:r>
            <a:endParaRPr lang="en-US" sz="1500" dirty="0"/>
          </a:p>
          <a:p>
            <a:pPr algn="l" indent="0" marL="0">
              <a:buNone/>
            </a:pPr>
            <a:r>
              <a:rPr lang="en-US" sz="1300" dirty="0">
                <a:solidFill>
                  <a:schemeClr val="tx2"/>
                </a:solidFill>
              </a:rPr>
              <a:t>Learning the new relation alone erased K-Ont's typing of materials and crystals.</a:t>
            </a:r>
            <a:endParaRPr lang="en-US" sz="1500" dirty="0"/>
          </a:p>
        </p:txBody>
      </p:sp>
      <p:sp>
        <p:nvSpPr>
          <p:cNvPr id="9" name="Fix: retention (one model, K-Ont-52c)"/>
          <p:cNvSpPr/>
          <p:nvPr/>
        </p:nvSpPr>
        <p:spPr>
          <a:xfrm>
            <a:off x="6263640" y="3246120"/>
            <a:ext cx="5394960" cy="1463040"/>
          </a:xfrm>
          <a:prstGeom prst="roundRect">
            <a:avLst>
              <a:gd name="adj" fmla="val 3750"/>
            </a:avLst>
          </a:prstGeom>
          <a:solidFill>
            <a:schemeClr val="accent4">
              <a:alpha val="14000"/>
            </a:schemeClr>
          </a:solidFill>
          <a:ln w="12700">
            <a:solidFill>
              <a:schemeClr val="accent4"/>
            </a:solidFill>
          </a:ln>
        </p:spPr>
        <p:txBody>
          <a:bodyPr wrap="square" lIns="50800" tIns="50800" rIns="50800" bIns="50800" rtlCol="0" anchor="ctr"/>
          <a:lstStyle/>
          <a:p>
            <a:pPr algn="l" indent="0" marL="0">
              <a:buNone/>
            </a:pPr>
            <a:r>
              <a:rPr lang="en-US" sz="1500" b="1" dirty="0">
                <a:solidFill>
                  <a:schemeClr val="tx1"/>
                </a:solidFill>
              </a:rPr>
              <a:t>Fix: retention (one model, K-Ont-52c)</a:t>
            </a:r>
            <a:endParaRPr lang="en-US" sz="1500" dirty="0"/>
          </a:p>
          <a:p>
            <a:pPr algn="l" indent="0" marL="0">
              <a:buNone/>
            </a:pPr>
            <a:r>
              <a:rPr lang="en-US" sz="1300" dirty="0">
                <a:solidFill>
                  <a:schemeClr val="tx2"/>
                </a:solidFill>
              </a:rPr>
              <a:t>Keep the original embeddings of all knowledge-graph sentences, 20,000 GALEN concepts and 23 relation phrases while learning. Typing, families and GALEN are kept; stable over 3 seeds.</a:t>
            </a:r>
            <a:endParaRPr lang="en-US" sz="1500" dirty="0"/>
          </a:p>
        </p:txBody>
      </p:sp>
      <p:sp>
        <p:nvSpPr>
          <p:cNvPr id="10" name="Text 8"/>
          <p:cNvSpPr txBox="1"/>
          <p:nvPr/>
        </p:nvSpPr>
        <p:spPr>
          <a:xfrm>
            <a:off x="548640" y="5029200"/>
            <a:ext cx="11064240" cy="457200"/>
          </a:xfrm>
          <a:prstGeom prst="rect">
            <a:avLst/>
          </a:prstGeom>
          <a:noFill/>
          <a:ln/>
        </p:spPr>
        <p:txBody>
          <a:bodyPr wrap="square" lIns="0" tIns="0" rIns="0" bIns="0" rtlCol="0" anchor="t"/>
          <a:lstStyle/>
          <a:p>
            <a:pPr indent="0" marL="0">
              <a:buNone/>
            </a:pPr>
            <a:r>
              <a:rPr lang="en-US" sz="1300" dirty="0">
                <a:solidFill>
                  <a:schemeClr val="tx2"/>
                </a:solidFill>
              </a:rPr>
              <a:t>Training uses only K-Ont's training materials; the 902 test materials and their candidates are never seen.</a:t>
            </a:r>
            <a:endParaRPr lang="en-US" sz="13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Workflow for one new composition</a:t>
            </a:r>
            <a:endParaRPr lang="en-US" sz="3000" dirty="0"/>
          </a:p>
        </p:txBody>
      </p:sp>
      <p:sp>
        <p:nvSpPr>
          <p:cNvPr id="3" name="step 1"/>
          <p:cNvSpPr/>
          <p:nvPr/>
        </p:nvSpPr>
        <p:spPr>
          <a:xfrm>
            <a:off x="548640" y="1325880"/>
            <a:ext cx="566928" cy="566928"/>
          </a:xfrm>
          <a:prstGeom prst="ellipse">
            <a:avLst/>
          </a:prstGeom>
          <a:solidFill>
            <a:schemeClr val="accent2"/>
          </a:solidFill>
          <a:ln w="12700">
            <a:solidFill>
              <a:schemeClr val="accent2"/>
            </a:solidFill>
            <a:prstDash val="solid"/>
          </a:ln>
        </p:spPr>
      </p:sp>
      <p:sp>
        <p:nvSpPr>
          <p:cNvPr id="4" name="Text 2"/>
          <p:cNvSpPr txBox="1"/>
          <p:nvPr/>
        </p:nvSpPr>
        <p:spPr>
          <a:xfrm>
            <a:off x="548640" y="13258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325880" y="1307592"/>
            <a:ext cx="2834640" cy="365760"/>
          </a:xfrm>
          <a:prstGeom prst="rect">
            <a:avLst/>
          </a:prstGeom>
          <a:noFill/>
          <a:ln/>
        </p:spPr>
        <p:txBody>
          <a:bodyPr wrap="square" lIns="0" tIns="0" rIns="0" bIns="0" rtlCol="0" anchor="t"/>
          <a:lstStyle/>
          <a:p>
            <a:pPr indent="0" marL="0">
              <a:buNone/>
            </a:pPr>
            <a:r>
              <a:rPr lang="en-US" sz="1700" b="1" dirty="0">
                <a:solidFill>
                  <a:schemeClr val="tx1"/>
                </a:solidFill>
              </a:rPr>
              <a:t>Find candidates</a:t>
            </a:r>
            <a:endParaRPr lang="en-US" sz="1700" dirty="0"/>
          </a:p>
        </p:txBody>
      </p:sp>
      <p:sp>
        <p:nvSpPr>
          <p:cNvPr id="6" name="Text 4"/>
          <p:cNvSpPr txBox="1"/>
          <p:nvPr/>
        </p:nvSpPr>
        <p:spPr>
          <a:xfrm>
            <a:off x="1325880" y="1655064"/>
            <a:ext cx="5760720" cy="502920"/>
          </a:xfrm>
          <a:prstGeom prst="rect">
            <a:avLst/>
          </a:prstGeom>
          <a:noFill/>
          <a:ln/>
        </p:spPr>
        <p:txBody>
          <a:bodyPr wrap="square" lIns="0" tIns="0" rIns="0" bIns="0" rtlCol="0" anchor="t"/>
          <a:lstStyle/>
          <a:p>
            <a:pPr indent="0" marL="0">
              <a:buNone/>
            </a:pPr>
            <a:r>
              <a:rPr lang="en-US" sz="1300" dirty="0">
                <a:solidFill>
                  <a:schemeClr val="tx2"/>
                </a:solidFill>
              </a:rPr>
              <a:t>KG materials with the same formula pattern (anonymous formula), different formula</a:t>
            </a:r>
            <a:endParaRPr lang="en-US" sz="1300" dirty="0"/>
          </a:p>
        </p:txBody>
      </p:sp>
      <p:sp>
        <p:nvSpPr>
          <p:cNvPr id="7" name="step 2"/>
          <p:cNvSpPr/>
          <p:nvPr/>
        </p:nvSpPr>
        <p:spPr>
          <a:xfrm>
            <a:off x="548640" y="2221992"/>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548640" y="222199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325880" y="2203704"/>
            <a:ext cx="2834640" cy="365760"/>
          </a:xfrm>
          <a:prstGeom prst="rect">
            <a:avLst/>
          </a:prstGeom>
          <a:noFill/>
          <a:ln/>
        </p:spPr>
        <p:txBody>
          <a:bodyPr wrap="square" lIns="0" tIns="0" rIns="0" bIns="0" rtlCol="0" anchor="t"/>
          <a:lstStyle/>
          <a:p>
            <a:pPr indent="0" marL="0">
              <a:buNone/>
            </a:pPr>
            <a:r>
              <a:rPr lang="en-US" sz="1700" b="1" dirty="0">
                <a:solidFill>
                  <a:schemeClr val="tx1"/>
                </a:solidFill>
              </a:rPr>
              <a:t>Rank with K-Ont</a:t>
            </a:r>
            <a:endParaRPr lang="en-US" sz="1700" dirty="0"/>
          </a:p>
        </p:txBody>
      </p:sp>
      <p:sp>
        <p:nvSpPr>
          <p:cNvPr id="10" name="Text 8"/>
          <p:cNvSpPr txBox="1"/>
          <p:nvPr/>
        </p:nvSpPr>
        <p:spPr>
          <a:xfrm>
            <a:off x="1325880" y="2551176"/>
            <a:ext cx="5760720" cy="502920"/>
          </a:xfrm>
          <a:prstGeom prst="rect">
            <a:avLst/>
          </a:prstGeom>
          <a:noFill/>
          <a:ln/>
        </p:spPr>
        <p:txBody>
          <a:bodyPr wrap="square" lIns="0" tIns="0" rIns="0" bIns="0" rtlCol="0" anchor="t"/>
          <a:lstStyle/>
          <a:p>
            <a:pPr indent="0" marL="0">
              <a:buNone/>
            </a:pPr>
            <a:r>
              <a:rPr lang="en-US" sz="1300" dirty="0">
                <a:solidFill>
                  <a:schemeClr val="tx2"/>
                </a:solidFill>
              </a:rPr>
              <a:t>score each candidate against the composition's structure-free description; a ranker adds KG facts; keep top 3</a:t>
            </a:r>
            <a:endParaRPr lang="en-US" sz="1300" dirty="0"/>
          </a:p>
        </p:txBody>
      </p:sp>
      <p:sp>
        <p:nvSpPr>
          <p:cNvPr id="11" name="step 3"/>
          <p:cNvSpPr/>
          <p:nvPr/>
        </p:nvSpPr>
        <p:spPr>
          <a:xfrm>
            <a:off x="548640" y="3118104"/>
            <a:ext cx="566928" cy="566928"/>
          </a:xfrm>
          <a:prstGeom prst="ellipse">
            <a:avLst/>
          </a:prstGeom>
          <a:solidFill>
            <a:schemeClr val="accent2"/>
          </a:solidFill>
          <a:ln w="12700">
            <a:solidFill>
              <a:schemeClr val="accent2"/>
            </a:solidFill>
            <a:prstDash val="solid"/>
          </a:ln>
        </p:spPr>
      </p:sp>
      <p:sp>
        <p:nvSpPr>
          <p:cNvPr id="12" name="Text 10"/>
          <p:cNvSpPr txBox="1"/>
          <p:nvPr/>
        </p:nvSpPr>
        <p:spPr>
          <a:xfrm>
            <a:off x="548640" y="3118104"/>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325880" y="3099816"/>
            <a:ext cx="2834640" cy="365760"/>
          </a:xfrm>
          <a:prstGeom prst="rect">
            <a:avLst/>
          </a:prstGeom>
          <a:noFill/>
          <a:ln/>
        </p:spPr>
        <p:txBody>
          <a:bodyPr wrap="square" lIns="0" tIns="0" rIns="0" bIns="0" rtlCol="0" anchor="t"/>
          <a:lstStyle/>
          <a:p>
            <a:pPr indent="0" marL="0">
              <a:buNone/>
            </a:pPr>
            <a:r>
              <a:rPr lang="en-US" sz="1700" b="1" dirty="0">
                <a:solidFill>
                  <a:schemeClr val="tx1"/>
                </a:solidFill>
              </a:rPr>
              <a:t>Substitute elements</a:t>
            </a:r>
            <a:endParaRPr lang="en-US" sz="1700" dirty="0"/>
          </a:p>
        </p:txBody>
      </p:sp>
      <p:sp>
        <p:nvSpPr>
          <p:cNvPr id="14" name="Text 12"/>
          <p:cNvSpPr txBox="1"/>
          <p:nvPr/>
        </p:nvSpPr>
        <p:spPr>
          <a:xfrm>
            <a:off x="1325880" y="3447288"/>
            <a:ext cx="5760720" cy="502920"/>
          </a:xfrm>
          <a:prstGeom prst="rect">
            <a:avLst/>
          </a:prstGeom>
          <a:noFill/>
          <a:ln/>
        </p:spPr>
        <p:txBody>
          <a:bodyPr wrap="square" lIns="0" tIns="0" rIns="0" bIns="0" rtlCol="0" anchor="t"/>
          <a:lstStyle/>
          <a:p>
            <a:pPr indent="0" marL="0">
              <a:buNone/>
            </a:pPr>
            <a:r>
              <a:rPr lang="en-US" sz="1300" dirty="0">
                <a:solidFill>
                  <a:schemeClr val="tx2"/>
                </a:solidFill>
              </a:rPr>
              <a:t>place the new elements on each framework's sites; scale the cell → 3 template structures</a:t>
            </a:r>
            <a:endParaRPr lang="en-US" sz="1300" dirty="0"/>
          </a:p>
        </p:txBody>
      </p:sp>
      <p:sp>
        <p:nvSpPr>
          <p:cNvPr id="15" name="step 4"/>
          <p:cNvSpPr/>
          <p:nvPr/>
        </p:nvSpPr>
        <p:spPr>
          <a:xfrm>
            <a:off x="548640" y="4014216"/>
            <a:ext cx="566928" cy="566928"/>
          </a:xfrm>
          <a:prstGeom prst="ellipse">
            <a:avLst/>
          </a:prstGeom>
          <a:solidFill>
            <a:schemeClr val="accent3"/>
          </a:solidFill>
          <a:ln w="12700">
            <a:solidFill>
              <a:schemeClr val="accent3"/>
            </a:solidFill>
            <a:prstDash val="solid"/>
          </a:ln>
        </p:spPr>
      </p:sp>
      <p:sp>
        <p:nvSpPr>
          <p:cNvPr id="16" name="Text 14"/>
          <p:cNvSpPr txBox="1"/>
          <p:nvPr/>
        </p:nvSpPr>
        <p:spPr>
          <a:xfrm>
            <a:off x="548640" y="401421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325880" y="3995928"/>
            <a:ext cx="2834640" cy="365760"/>
          </a:xfrm>
          <a:prstGeom prst="rect">
            <a:avLst/>
          </a:prstGeom>
          <a:noFill/>
          <a:ln/>
        </p:spPr>
        <p:txBody>
          <a:bodyPr wrap="square" lIns="0" tIns="0" rIns="0" bIns="0" rtlCol="0" anchor="t"/>
          <a:lstStyle/>
          <a:p>
            <a:pPr indent="0" marL="0">
              <a:buNone/>
            </a:pPr>
            <a:r>
              <a:rPr lang="en-US" sz="1700" b="1" dirty="0">
                <a:solidFill>
                  <a:schemeClr val="tx1"/>
                </a:solidFill>
              </a:rPr>
              <a:t>Add CrystaLLM samples</a:t>
            </a:r>
            <a:endParaRPr lang="en-US" sz="1700" dirty="0"/>
          </a:p>
        </p:txBody>
      </p:sp>
      <p:sp>
        <p:nvSpPr>
          <p:cNvPr id="18" name="Text 16"/>
          <p:cNvSpPr txBox="1"/>
          <p:nvPr/>
        </p:nvSpPr>
        <p:spPr>
          <a:xfrm>
            <a:off x="1325880" y="4343400"/>
            <a:ext cx="5760720" cy="502920"/>
          </a:xfrm>
          <a:prstGeom prst="rect">
            <a:avLst/>
          </a:prstGeom>
          <a:noFill/>
          <a:ln/>
        </p:spPr>
        <p:txBody>
          <a:bodyPr wrap="square" lIns="0" tIns="0" rIns="0" bIns="0" rtlCol="0" anchor="t"/>
          <a:lstStyle/>
          <a:p>
            <a:pPr indent="0" marL="0">
              <a:buNone/>
            </a:pPr>
            <a:r>
              <a:rPr lang="en-US" sz="1300" dirty="0">
                <a:solidFill>
                  <a:schemeClr val="tx2"/>
                </a:solidFill>
              </a:rPr>
              <a:t>the language model writes 5 more candidates for frameworks the graph may lack</a:t>
            </a:r>
            <a:endParaRPr lang="en-US" sz="1300" dirty="0"/>
          </a:p>
        </p:txBody>
      </p:sp>
      <p:sp>
        <p:nvSpPr>
          <p:cNvPr id="19" name="step 5"/>
          <p:cNvSpPr/>
          <p:nvPr/>
        </p:nvSpPr>
        <p:spPr>
          <a:xfrm>
            <a:off x="548640" y="4910328"/>
            <a:ext cx="566928" cy="566928"/>
          </a:xfrm>
          <a:prstGeom prst="ellipse">
            <a:avLst/>
          </a:prstGeom>
          <a:solidFill>
            <a:schemeClr val="accent4"/>
          </a:solidFill>
          <a:ln w="12700">
            <a:solidFill>
              <a:schemeClr val="accent4"/>
            </a:solidFill>
            <a:prstDash val="solid"/>
          </a:ln>
        </p:spPr>
      </p:sp>
      <p:sp>
        <p:nvSpPr>
          <p:cNvPr id="20" name="Text 18"/>
          <p:cNvSpPr txBox="1"/>
          <p:nvPr/>
        </p:nvSpPr>
        <p:spPr>
          <a:xfrm>
            <a:off x="548640" y="491032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9"/>
          <p:cNvSpPr txBox="1"/>
          <p:nvPr/>
        </p:nvSpPr>
        <p:spPr>
          <a:xfrm>
            <a:off x="1325880" y="4892040"/>
            <a:ext cx="2834640" cy="365760"/>
          </a:xfrm>
          <a:prstGeom prst="rect">
            <a:avLst/>
          </a:prstGeom>
          <a:noFill/>
          <a:ln/>
        </p:spPr>
        <p:txBody>
          <a:bodyPr wrap="square" lIns="0" tIns="0" rIns="0" bIns="0" rtlCol="0" anchor="t"/>
          <a:lstStyle/>
          <a:p>
            <a:pPr indent="0" marL="0">
              <a:buNone/>
            </a:pPr>
            <a:r>
              <a:rPr lang="en-US" sz="1700" b="1" dirty="0">
                <a:solidFill>
                  <a:schemeClr val="tx1"/>
                </a:solidFill>
              </a:rPr>
              <a:t>Relax and pick</a:t>
            </a:r>
            <a:endParaRPr lang="en-US" sz="1700" dirty="0"/>
          </a:p>
        </p:txBody>
      </p:sp>
      <p:sp>
        <p:nvSpPr>
          <p:cNvPr id="22" name="Text 20"/>
          <p:cNvSpPr txBox="1"/>
          <p:nvPr/>
        </p:nvSpPr>
        <p:spPr>
          <a:xfrm>
            <a:off x="1325880" y="5239512"/>
            <a:ext cx="5760720" cy="502920"/>
          </a:xfrm>
          <a:prstGeom prst="rect">
            <a:avLst/>
          </a:prstGeom>
          <a:noFill/>
          <a:ln/>
        </p:spPr>
        <p:txBody>
          <a:bodyPr wrap="square" lIns="0" tIns="0" rIns="0" bIns="0" rtlCol="0" anchor="t"/>
          <a:lstStyle/>
          <a:p>
            <a:pPr indent="0" marL="0">
              <a:buNone/>
            </a:pPr>
            <a:r>
              <a:rPr lang="en-US" sz="1300" dirty="0">
                <a:solidFill>
                  <a:schemeClr val="tx2"/>
                </a:solidFill>
              </a:rPr>
              <a:t>CHGNet relaxes all 8 candidates; the lowest energy per atom is the answer</a:t>
            </a:r>
            <a:endParaRPr lang="en-US" sz="1300" dirty="0"/>
          </a:p>
        </p:txBody>
      </p:sp>
      <p:sp>
        <p:nvSpPr>
          <p:cNvPr id="23" name="Example: NaMnPO₄ (illustration)"/>
          <p:cNvSpPr/>
          <p:nvPr/>
        </p:nvSpPr>
        <p:spPr>
          <a:xfrm>
            <a:off x="7589520" y="1325880"/>
            <a:ext cx="4069080" cy="2834640"/>
          </a:xfrm>
          <a:prstGeom prst="roundRect">
            <a:avLst>
              <a:gd name="adj" fmla="val 1935"/>
            </a:avLst>
          </a:prstGeom>
          <a:solidFill>
            <a:schemeClr val="accent5">
              <a:alpha val="14000"/>
            </a:schemeClr>
          </a:solidFill>
          <a:ln w="12700">
            <a:solidFill>
              <a:schemeClr val="accent5"/>
            </a:solidFill>
          </a:ln>
        </p:spPr>
        <p:txBody>
          <a:bodyPr wrap="square" lIns="127000" tIns="127000" rIns="127000" bIns="127000" rtlCol="0" anchor="t"/>
          <a:lstStyle/>
          <a:p>
            <a:pPr algn="l" indent="0" marL="0">
              <a:buNone/>
            </a:pPr>
            <a:r>
              <a:rPr lang="en-US" sz="1500" b="1" dirty="0">
                <a:solidFill>
                  <a:schemeClr val="tx1"/>
                </a:solidFill>
              </a:rPr>
              <a:t>Example: NaMnPO₄ (illustration)</a:t>
            </a:r>
            <a:endParaRPr lang="en-US" sz="1500" dirty="0"/>
          </a:p>
          <a:p>
            <a:pPr algn="l" indent="0" marL="0">
              <a:buNone/>
            </a:pPr>
            <a:r>
              <a:rPr lang="en-US" sz="1300" dirty="0">
                <a:solidFill>
                  <a:schemeClr val="tx2"/>
                </a:solidFill>
              </a:rPr>
              <a:t>1  pattern ABCD₄ → LiFePO₄, LiMnPO₄, LiCoPO₄, …</a:t>
            </a:r>
            <a:endParaRPr lang="en-US" sz="1500" dirty="0"/>
          </a:p>
          <a:p>
            <a:pPr algn="l" indent="0" marL="0">
              <a:buNone/>
            </a:pPr>
            <a:r>
              <a:rPr lang="en-US" sz="1300" dirty="0">
                <a:solidFill>
                  <a:schemeClr val="tx2"/>
                </a:solidFill>
              </a:rPr>
              <a:t>2  K-Ont scores every candidate; the top 3 frameworks are kept</a:t>
            </a:r>
            <a:endParaRPr lang="en-US" sz="1500" dirty="0"/>
          </a:p>
          <a:p>
            <a:pPr algn="l" indent="0" marL="0">
              <a:buNone/>
            </a:pPr>
            <a:r>
              <a:rPr lang="en-US" sz="1300" dirty="0">
                <a:solidFill>
                  <a:schemeClr val="tx2"/>
                </a:solidFill>
              </a:rPr>
              <a:t>3  Na → Li site, Mn → Fe site, P → P, O → O; cell scaled to the new ions</a:t>
            </a:r>
            <a:endParaRPr lang="en-US" sz="1500" dirty="0"/>
          </a:p>
          <a:p>
            <a:pPr algn="l" indent="0" marL="0">
              <a:buNone/>
            </a:pPr>
            <a:r>
              <a:rPr lang="en-US" sz="1300" dirty="0">
                <a:solidFill>
                  <a:schemeClr val="tx2"/>
                </a:solidFill>
              </a:rPr>
              <a:t>4  CrystaLLM writes 5 structures from the composition alone</a:t>
            </a:r>
            <a:endParaRPr lang="en-US" sz="1500" dirty="0"/>
          </a:p>
          <a:p>
            <a:pPr algn="l" indent="0" marL="0">
              <a:buNone/>
            </a:pPr>
            <a:r>
              <a:rPr lang="en-US" sz="1300" dirty="0">
                <a:solidFill>
                  <a:schemeClr val="tx2"/>
                </a:solidFill>
              </a:rPr>
              <a:t>5  CHGNet keeps the most stable of the 8</a:t>
            </a:r>
            <a:endParaRPr lang="en-US" sz="15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Inside step 3: element substitution</a:t>
            </a:r>
            <a:endParaRPr lang="en-US" sz="3000" dirty="0"/>
          </a:p>
        </p:txBody>
      </p:sp>
      <p:sp>
        <p:nvSpPr>
          <p:cNvPr id="3" name="Text 1"/>
          <p:cNvSpPr txBox="1"/>
          <p:nvPr/>
        </p:nvSpPr>
        <p:spPr>
          <a:xfrm>
            <a:off x="548640" y="1325880"/>
            <a:ext cx="603504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Elements are matched by amount in the formula, then by electronegativity, so ions of similar character share a site</a:t>
            </a:r>
            <a:endParaRPr lang="en-US" sz="1500" dirty="0"/>
          </a:p>
          <a:p>
            <a:pPr marL="342900" indent="-342900">
              <a:spcAft>
                <a:spcPts val="800"/>
              </a:spcAft>
              <a:buSzPct val="100000"/>
              <a:buChar char="•"/>
            </a:pPr>
            <a:r>
              <a:rPr lang="en-US" sz="1500" dirty="0">
                <a:solidFill>
                  <a:schemeClr val="tx1"/>
                </a:solidFill>
              </a:rPr>
              <a:t>The cell is scaled by the ratio of atomic sizes, a first guess at the new volume</a:t>
            </a:r>
            <a:endParaRPr lang="en-US" sz="1500" dirty="0"/>
          </a:p>
          <a:p>
            <a:pPr marL="342900" indent="-342900">
              <a:spcAft>
                <a:spcPts val="800"/>
              </a:spcAft>
              <a:buSzPct val="100000"/>
              <a:buChar char="•"/>
            </a:pPr>
            <a:r>
              <a:rPr lang="en-US" sz="1500" dirty="0">
                <a:solidFill>
                  <a:schemeClr val="tx1"/>
                </a:solidFill>
              </a:rPr>
              <a:t>CHGNet relaxation then corrects atom positions and the cell shape</a:t>
            </a:r>
            <a:endParaRPr lang="en-US" sz="1500" dirty="0"/>
          </a:p>
          <a:p>
            <a:pPr marL="342900" indent="-342900">
              <a:spcAft>
                <a:spcPts val="800"/>
              </a:spcAft>
              <a:buSzPct val="100000"/>
              <a:buChar char="•"/>
            </a:pPr>
            <a:r>
              <a:rPr lang="en-US" sz="1500" dirty="0">
                <a:solidFill>
                  <a:schemeClr val="tx1"/>
                </a:solidFill>
              </a:rPr>
              <a:t>Stoichiometry stays exact: only elements with the same count can swap</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040880" y="1371600"/>
          <a:ext cx="4617720" cy="914400"/>
        </p:xfrm>
        <a:graphic>
          <a:graphicData uri="http://schemas.openxmlformats.org/drawingml/2006/table">
            <a:tbl>
              <a:tblPr/>
              <a:tblGrid>
                <a:gridCol w="2011680"/>
                <a:gridCol w="594360"/>
                <a:gridCol w="2011680"/>
              </a:tblGrid>
              <a:tr h="384048">
                <a:tc>
                  <a:txBody>
                    <a:bodyPr/>
                    <a:lstStyle/>
                    <a:p>
                      <a:pPr indent="0" marL="0">
                        <a:buNone/>
                      </a:pPr>
                      <a:r>
                        <a:rPr lang="en-US" sz="1400" b="1" dirty="0">
                          <a:solidFill>
                            <a:schemeClr val="bg1"/>
                          </a:solidFill>
                        </a:rPr>
                        <a:t>Template LiFePO₄</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rPr>
                        <a:t>→</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Target NaMnPO₄</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solidFill>
                      <a:schemeClr val="accent2"/>
                    </a:solidFill>
                  </a:tcPr>
                </a:tc>
              </a:tr>
              <a:tr h="384048">
                <a:tc>
                  <a:txBody>
                    <a:bodyPr/>
                    <a:lstStyle/>
                    <a:p>
                      <a:pPr indent="0" marL="0">
                        <a:buNone/>
                      </a:pPr>
                      <a:r>
                        <a:rPr lang="en-US" sz="1400" dirty="0">
                          <a:solidFill>
                            <a:schemeClr val="tx1"/>
                          </a:solidFill>
                        </a:rPr>
                        <a:t>Li (1 per formula)</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Na</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dirty="0">
                          <a:solidFill>
                            <a:schemeClr val="tx1"/>
                          </a:solidFill>
                        </a:rPr>
                        <a:t>Fe (1)</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Mn</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dirty="0">
                          <a:solidFill>
                            <a:schemeClr val="tx1"/>
                          </a:solidFill>
                        </a:rPr>
                        <a:t>P (1)</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P</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dirty="0">
                          <a:solidFill>
                            <a:schemeClr val="tx1"/>
                          </a:solidFill>
                        </a:rPr>
                        <a:t>O (4)</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400" dirty="0">
                          <a:solidFill>
                            <a:schemeClr val="tx1"/>
                          </a:solidFill>
                        </a:rPr>
                        <a:t>O</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bl>
          </a:graphicData>
        </a:graphic>
      </p:graphicFrame>
      <p:sp>
        <p:nvSpPr>
          <p:cNvPr id="5" name="Tested: oxidation-state aware placement (bond valence + ionic radii)"/>
          <p:cNvSpPr/>
          <p:nvPr/>
        </p:nvSpPr>
        <p:spPr>
          <a:xfrm>
            <a:off x="548640" y="3794760"/>
            <a:ext cx="11109960" cy="1051560"/>
          </a:xfrm>
          <a:prstGeom prst="roundRect">
            <a:avLst>
              <a:gd name="adj" fmla="val 5217"/>
            </a:avLst>
          </a:prstGeom>
          <a:solidFill>
            <a:schemeClr val="accent6">
              <a:alpha val="14000"/>
            </a:schemeClr>
          </a:solidFill>
          <a:ln w="12700">
            <a:solidFill>
              <a:schemeClr val="accent6"/>
            </a:solidFill>
          </a:ln>
        </p:spPr>
        <p:txBody>
          <a:bodyPr wrap="square" lIns="50800" tIns="50800" rIns="50800" bIns="50800" rtlCol="0" anchor="ctr"/>
          <a:lstStyle/>
          <a:p>
            <a:pPr algn="l" indent="0" marL="0">
              <a:buNone/>
            </a:pPr>
            <a:r>
              <a:rPr lang="en-US" sz="1400" b="1" dirty="0">
                <a:solidFill>
                  <a:schemeClr val="tx1"/>
                </a:solidFill>
              </a:rPr>
              <a:t>Tested: oxidation-state aware placement (bond valence + ionic radii)</a:t>
            </a:r>
            <a:endParaRPr lang="en-US" sz="1400" dirty="0"/>
          </a:p>
          <a:p>
            <a:pPr algn="l" indent="0" marL="0">
              <a:buNone/>
            </a:pPr>
            <a:r>
              <a:rPr lang="en-US" sz="1300" dirty="0">
                <a:solidFill>
                  <a:schemeClr val="tx2"/>
                </a:solidFill>
              </a:rPr>
              <a:t>Only 556 of 6,553 placements change, and accuracy stays the same (60.3% vs 60.5% at the first attempt). The simple rule is already chemically consistent; errors come from wrong frameworks, not wrong sites.</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Why combine templates with CrystaLLM</a:t>
            </a:r>
            <a:endParaRPr lang="en-US" sz="3000" dirty="0"/>
          </a:p>
        </p:txBody>
      </p:sp>
      <p:sp>
        <p:nvSpPr>
          <p:cNvPr id="3" name="Templates fail when…"/>
          <p:cNvSpPr/>
          <p:nvPr/>
        </p:nvSpPr>
        <p:spPr>
          <a:xfrm>
            <a:off x="548640" y="1325880"/>
            <a:ext cx="3520440" cy="1463040"/>
          </a:xfrm>
          <a:prstGeom prst="roundRect">
            <a:avLst>
              <a:gd name="adj" fmla="val 3750"/>
            </a:avLst>
          </a:prstGeom>
          <a:solidFill>
            <a:schemeClr val="accent2">
              <a:alpha val="14000"/>
            </a:schemeClr>
          </a:solidFill>
          <a:ln w="12700">
            <a:solidFill>
              <a:schemeClr val="accent2"/>
            </a:solidFill>
          </a:ln>
        </p:spPr>
        <p:txBody>
          <a:bodyPr wrap="square" lIns="127000" tIns="127000" rIns="127000" bIns="127000" rtlCol="0" anchor="t"/>
          <a:lstStyle/>
          <a:p>
            <a:pPr algn="l" indent="0" marL="0">
              <a:buNone/>
            </a:pPr>
            <a:r>
              <a:rPr lang="en-US" sz="1500" b="1" dirty="0">
                <a:solidFill>
                  <a:schemeClr val="tx1"/>
                </a:solidFill>
              </a:rPr>
              <a:t>Templates fail when…</a:t>
            </a:r>
            <a:endParaRPr lang="en-US" sz="1500" dirty="0"/>
          </a:p>
          <a:p>
            <a:pPr algn="l" indent="0" marL="0">
              <a:buNone/>
            </a:pPr>
            <a:r>
              <a:rPr lang="en-US" sz="1300" dirty="0">
                <a:solidFill>
                  <a:schemeClr val="tx2"/>
                </a:solidFill>
              </a:rPr>
              <a:t>the right framework is not in the graph (about 9% of targets), or elements land on the wrong sites</a:t>
            </a:r>
            <a:endParaRPr lang="en-US" sz="1500" dirty="0"/>
          </a:p>
        </p:txBody>
      </p:sp>
      <p:sp>
        <p:nvSpPr>
          <p:cNvPr id="4" name="CrystaLLM fails when…"/>
          <p:cNvSpPr/>
          <p:nvPr/>
        </p:nvSpPr>
        <p:spPr>
          <a:xfrm>
            <a:off x="4343400" y="1325880"/>
            <a:ext cx="3520440" cy="1463040"/>
          </a:xfrm>
          <a:prstGeom prst="roundRect">
            <a:avLst>
              <a:gd name="adj" fmla="val 3750"/>
            </a:avLst>
          </a:prstGeom>
          <a:solidFill>
            <a:schemeClr val="accent3">
              <a:alpha val="14000"/>
            </a:schemeClr>
          </a:solidFill>
          <a:ln w="12700">
            <a:solidFill>
              <a:schemeClr val="accent3"/>
            </a:solidFill>
          </a:ln>
        </p:spPr>
        <p:txBody>
          <a:bodyPr wrap="square" lIns="127000" tIns="127000" rIns="127000" bIns="127000" rtlCol="0" anchor="t"/>
          <a:lstStyle/>
          <a:p>
            <a:pPr algn="l" indent="0" marL="0">
              <a:buNone/>
            </a:pPr>
            <a:r>
              <a:rPr lang="en-US" sz="1500" b="1" dirty="0">
                <a:solidFill>
                  <a:schemeClr val="tx1"/>
                </a:solidFill>
              </a:rPr>
              <a:t>CrystaLLM fails when…</a:t>
            </a:r>
            <a:endParaRPr lang="en-US" sz="1500" dirty="0"/>
          </a:p>
          <a:p>
            <a:pPr algn="l" indent="0" marL="0">
              <a:buNone/>
            </a:pPr>
            <a:r>
              <a:rPr lang="en-US" sz="1300" dirty="0">
                <a:solidFill>
                  <a:schemeClr val="tx2"/>
                </a:solidFill>
              </a:rPr>
              <a:t>it invents the wrong framework or misplaces atoms while writing coordinates</a:t>
            </a:r>
            <a:endParaRPr lang="en-US" sz="1500" dirty="0"/>
          </a:p>
        </p:txBody>
      </p:sp>
      <p:sp>
        <p:nvSpPr>
          <p:cNvPr id="5" name="Together…"/>
          <p:cNvSpPr/>
          <p:nvPr/>
        </p:nvSpPr>
        <p:spPr>
          <a:xfrm>
            <a:off x="8138160" y="1325880"/>
            <a:ext cx="3520440" cy="1463040"/>
          </a:xfrm>
          <a:prstGeom prst="roundRect">
            <a:avLst>
              <a:gd name="adj" fmla="val 3750"/>
            </a:avLst>
          </a:prstGeom>
          <a:solidFill>
            <a:schemeClr val="accent4">
              <a:alpha val="14000"/>
            </a:schemeClr>
          </a:solidFill>
          <a:ln w="12700">
            <a:solidFill>
              <a:schemeClr val="accent4"/>
            </a:solidFill>
          </a:ln>
        </p:spPr>
        <p:txBody>
          <a:bodyPr wrap="square" lIns="127000" tIns="127000" rIns="127000" bIns="127000" rtlCol="0" anchor="t"/>
          <a:lstStyle/>
          <a:p>
            <a:pPr algn="l" indent="0" marL="0">
              <a:buNone/>
            </a:pPr>
            <a:r>
              <a:rPr lang="en-US" sz="1500" b="1" dirty="0">
                <a:solidFill>
                  <a:schemeClr val="tx1"/>
                </a:solidFill>
              </a:rPr>
              <a:t>Together…</a:t>
            </a:r>
            <a:endParaRPr lang="en-US" sz="1500" dirty="0"/>
          </a:p>
          <a:p>
            <a:pPr algn="l" indent="0" marL="0">
              <a:buNone/>
            </a:pPr>
            <a:r>
              <a:rPr lang="en-US" sz="1300" dirty="0">
                <a:solidFill>
                  <a:schemeClr val="tx2"/>
                </a:solidFill>
              </a:rPr>
              <a:t>they catch different materials; a physics-based energy pick chooses among them</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7315200" cy="914400"/>
        </p:xfrm>
        <a:graphic>
          <a:graphicData uri="http://schemas.openxmlformats.org/drawingml/2006/table">
            <a:tbl>
              <a:tblPr/>
              <a:tblGrid>
                <a:gridCol w="4023360"/>
                <a:gridCol w="1645920"/>
                <a:gridCol w="1645920"/>
              </a:tblGrid>
              <a:tr h="384048">
                <a:tc>
                  <a:txBody>
                    <a:bodyPr/>
                    <a:lstStyle/>
                    <a:p>
                      <a:pPr indent="0" marL="0">
                        <a:buNone/>
                      </a:pPr>
                      <a:r>
                        <a:rPr lang="en-US" sz="1400" b="1" dirty="0">
                          <a:solidFill>
                            <a:schemeClr val="tx1"/>
                          </a:solidFill>
                        </a:rPr>
                        <a:t>System (8-candidate budget)</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tx1"/>
                          </a:solidFill>
                        </a:rPr>
                        <a:t>One final answer</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tx1"/>
                          </a:solidFill>
                        </a:rPr>
                        <a:t>Any of 8 right</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dirty="0">
                          <a:solidFill>
                            <a:schemeClr val="tx1"/>
                          </a:solidFill>
                        </a:rPr>
                        <a:t>Templates only</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dirty="0">
                          <a:solidFill>
                            <a:schemeClr val="tx1"/>
                          </a:solidFill>
                        </a:rPr>
                        <a:t>61.7%</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dirty="0">
                          <a:solidFill>
                            <a:schemeClr val="tx1"/>
                          </a:solidFill>
                        </a:rPr>
                        <a:t>71.4%</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dirty="0">
                          <a:solidFill>
                            <a:schemeClr val="tx1"/>
                          </a:solidFill>
                        </a:rPr>
                        <a:t>CrystaLLM only (8 samples)</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dirty="0">
                          <a:solidFill>
                            <a:schemeClr val="tx1"/>
                          </a:solidFill>
                        </a:rPr>
                        <a:t>63.7%</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dirty="0">
                          <a:solidFill>
                            <a:schemeClr val="tx1"/>
                          </a:solidFill>
                        </a:rPr>
                        <a:t>68.3%</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b="1" dirty="0">
                          <a:solidFill>
                            <a:schemeClr val="accent1"/>
                          </a:solidFill>
                        </a:rPr>
                        <a:t>3 templates + 5 CrystaLLM</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accent1"/>
                          </a:solidFill>
                        </a:rPr>
                        <a:t>69.3%</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accent1"/>
                          </a:solidFill>
                        </a:rPr>
                        <a:t>77.3%</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bl>
          </a:graphicData>
        </a:graphic>
      </p:graphicFrame>
      <p:sp>
        <p:nvSpPr>
          <p:cNvPr id="7" name="Text 4"/>
          <p:cNvSpPr txBox="1"/>
          <p:nvPr/>
        </p:nvSpPr>
        <p:spPr>
          <a:xfrm>
            <a:off x="8229600" y="3154680"/>
            <a:ext cx="3429000" cy="1554480"/>
          </a:xfrm>
          <a:prstGeom prst="rect">
            <a:avLst/>
          </a:prstGeom>
          <a:noFill/>
          <a:ln/>
        </p:spPr>
        <p:txBody>
          <a:bodyPr wrap="square" lIns="0" tIns="0" rIns="0" bIns="0" rtlCol="0" anchor="t"/>
          <a:lstStyle/>
          <a:p>
            <a:pPr indent="0" marL="0">
              <a:buNone/>
            </a:pPr>
            <a:r>
              <a:rPr lang="en-US" sz="1300" dirty="0">
                <a:solidFill>
                  <a:schemeClr val="tx2"/>
                </a:solidFill>
              </a:rPr>
              <a:t>8 candidates matches the “CrystaLLM × 8” baseline, so both systems get the same budget. The system still outputs one structure.</a:t>
            </a:r>
            <a:endParaRPr lang="en-US" sz="13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Results on 902 held-out materials</a:t>
            </a:r>
            <a:endParaRPr lang="en-US" sz="3000" dirty="0"/>
          </a:p>
        </p:txBody>
      </p:sp>
      <p:graphicFrame>
        <p:nvGraphicFramePr>
          <p:cNvPr id="3" name="Chart 0" descr=""/>
          <p:cNvGraphicFramePr/>
          <p:nvPr/>
        </p:nvGraphicFramePr>
        <p:xfrm>
          <a:off x="548640" y="12801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325880"/>
            <a:ext cx="374904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+12.2 pts</a:t>
            </a:r>
            <a:endParaRPr lang="en-US" sz="3600" dirty="0"/>
          </a:p>
        </p:txBody>
      </p:sp>
      <p:sp>
        <p:nvSpPr>
          <p:cNvPr id="5" name="Text 2"/>
          <p:cNvSpPr txBox="1"/>
          <p:nvPr/>
        </p:nvSpPr>
        <p:spPr>
          <a:xfrm>
            <a:off x="7863840" y="2039112"/>
            <a:ext cx="3749040" cy="640080"/>
          </a:xfrm>
          <a:prstGeom prst="rect">
            <a:avLst/>
          </a:prstGeom>
          <a:noFill/>
          <a:ln/>
        </p:spPr>
        <p:txBody>
          <a:bodyPr wrap="square" lIns="0" tIns="0" rIns="0" bIns="0" rtlCol="0" anchor="t"/>
          <a:lstStyle/>
          <a:p>
            <a:pPr indent="0" marL="0">
              <a:buNone/>
            </a:pPr>
            <a:r>
              <a:rPr lang="en-US" sz="1200" dirty="0">
                <a:solidFill>
                  <a:schemeClr val="tx2"/>
                </a:solidFill>
              </a:rPr>
              <a:t>over CrystaLLM at the first attempt [9.0, 15.4]</a:t>
            </a:r>
            <a:endParaRPr lang="en-US" sz="1200" dirty="0"/>
          </a:p>
        </p:txBody>
      </p:sp>
      <p:sp>
        <p:nvSpPr>
          <p:cNvPr id="6" name="Text 3"/>
          <p:cNvSpPr txBox="1"/>
          <p:nvPr/>
        </p:nvSpPr>
        <p:spPr>
          <a:xfrm>
            <a:off x="7863840" y="2743200"/>
            <a:ext cx="374904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77.3%</a:t>
            </a:r>
            <a:endParaRPr lang="en-US" sz="3600" dirty="0"/>
          </a:p>
        </p:txBody>
      </p:sp>
      <p:sp>
        <p:nvSpPr>
          <p:cNvPr id="7" name="Text 4"/>
          <p:cNvSpPr txBox="1"/>
          <p:nvPr/>
        </p:nvSpPr>
        <p:spPr>
          <a:xfrm>
            <a:off x="7863840" y="3456432"/>
            <a:ext cx="3749040" cy="640080"/>
          </a:xfrm>
          <a:prstGeom prst="rect">
            <a:avLst/>
          </a:prstGeom>
          <a:noFill/>
          <a:ln/>
        </p:spPr>
        <p:txBody>
          <a:bodyPr wrap="square" lIns="0" tIns="0" rIns="0" bIns="0" rtlCol="0" anchor="t"/>
          <a:lstStyle/>
          <a:p>
            <a:pPr indent="0" marL="0">
              <a:buNone/>
            </a:pPr>
            <a:r>
              <a:rPr lang="en-US" sz="1200" dirty="0">
                <a:solidFill>
                  <a:schemeClr val="tx2"/>
                </a:solidFill>
              </a:rPr>
              <a:t>right within 8 attempts with CrystaLLM (vs 68.3%) [+6.9, +11.1]</a:t>
            </a:r>
            <a:endParaRPr lang="en-US" sz="1200" dirty="0"/>
          </a:p>
        </p:txBody>
      </p:sp>
      <p:sp>
        <p:nvSpPr>
          <p:cNvPr id="8" name="Text 5"/>
          <p:cNvSpPr txBox="1"/>
          <p:nvPr/>
        </p:nvSpPr>
        <p:spPr>
          <a:xfrm>
            <a:off x="7863840" y="4160520"/>
            <a:ext cx="374904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69.3%</a:t>
            </a:r>
            <a:endParaRPr lang="en-US" sz="3600" dirty="0"/>
          </a:p>
        </p:txBody>
      </p:sp>
      <p:sp>
        <p:nvSpPr>
          <p:cNvPr id="9" name="Text 6"/>
          <p:cNvSpPr txBox="1"/>
          <p:nvPr/>
        </p:nvSpPr>
        <p:spPr>
          <a:xfrm>
            <a:off x="7863840" y="4873752"/>
            <a:ext cx="3749040" cy="640080"/>
          </a:xfrm>
          <a:prstGeom prst="rect">
            <a:avLst/>
          </a:prstGeom>
          <a:noFill/>
          <a:ln/>
        </p:spPr>
        <p:txBody>
          <a:bodyPr wrap="square" lIns="0" tIns="0" rIns="0" bIns="0" rtlCol="0" anchor="t"/>
          <a:lstStyle/>
          <a:p>
            <a:pPr indent="0" marL="0">
              <a:buNone/>
            </a:pPr>
            <a:r>
              <a:rPr lang="en-US" sz="1200" dirty="0">
                <a:solidFill>
                  <a:schemeClr val="tx2"/>
                </a:solidFill>
              </a:rPr>
              <a:t>one committed answer by CHGNet (vs 63.7%) [+1.3, +9.7]</a:t>
            </a:r>
            <a:endParaRPr lang="en-US" sz="1200" dirty="0"/>
          </a:p>
        </p:txBody>
      </p:sp>
      <p:sp>
        <p:nvSpPr>
          <p:cNvPr id="10" name="Text 7"/>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100" dirty="0">
                <a:solidFill>
                  <a:schemeClr val="tx2"/>
                </a:solidFill>
              </a:rPr>
              <a:t>Brackets: 95% bootstrap intervals of the difference. Materials never seen in training.</a:t>
            </a:r>
            <a:endParaRPr lang="en-US" sz="11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Novel cathodes: 199 compositions not in Materials Project</a:t>
            </a:r>
            <a:endParaRPr lang="en-US" sz="3000" dirty="0"/>
          </a:p>
        </p:txBody>
      </p:sp>
      <p:sp>
        <p:nvSpPr>
          <p:cNvPr id="3" name="Text 1"/>
          <p:cNvSpPr txBox="1"/>
          <p:nvPr/>
        </p:nvSpPr>
        <p:spPr>
          <a:xfrm>
            <a:off x="548640" y="1325880"/>
            <a:ext cx="338328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34 / 0</a:t>
            </a:r>
            <a:endParaRPr lang="en-US" sz="3600" dirty="0"/>
          </a:p>
        </p:txBody>
      </p:sp>
      <p:sp>
        <p:nvSpPr>
          <p:cNvPr id="4" name="Text 2"/>
          <p:cNvSpPr txBox="1"/>
          <p:nvPr/>
        </p:nvSpPr>
        <p:spPr>
          <a:xfrm>
            <a:off x="548640" y="2039112"/>
            <a:ext cx="3383280" cy="640080"/>
          </a:xfrm>
          <a:prstGeom prst="rect">
            <a:avLst/>
          </a:prstGeom>
          <a:noFill/>
          <a:ln/>
        </p:spPr>
        <p:txBody>
          <a:bodyPr wrap="square" lIns="0" tIns="0" rIns="0" bIns="0" rtlCol="0" anchor="t"/>
          <a:lstStyle/>
          <a:p>
            <a:pPr indent="0" marL="0">
              <a:buNone/>
            </a:pPr>
            <a:r>
              <a:rPr lang="en-US" sz="1200" dirty="0">
                <a:solidFill>
                  <a:schemeClr val="tx2"/>
                </a:solidFill>
              </a:rPr>
              <a:t>compositions where adding K-Ont templates found a lower / higher energy structure than CrystaLLM-large alone</a:t>
            </a:r>
            <a:endParaRPr lang="en-US" sz="1200" dirty="0"/>
          </a:p>
        </p:txBody>
      </p:sp>
      <p:sp>
        <p:nvSpPr>
          <p:cNvPr id="5" name="Text 3"/>
          <p:cNvSpPr txBox="1"/>
          <p:nvPr/>
        </p:nvSpPr>
        <p:spPr>
          <a:xfrm>
            <a:off x="4343400" y="1325880"/>
            <a:ext cx="3383280" cy="68580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32 of 34</a:t>
            </a:r>
            <a:endParaRPr lang="en-US" sz="3600" dirty="0"/>
          </a:p>
        </p:txBody>
      </p:sp>
      <p:sp>
        <p:nvSpPr>
          <p:cNvPr id="6" name="Text 4"/>
          <p:cNvSpPr txBox="1"/>
          <p:nvPr/>
        </p:nvSpPr>
        <p:spPr>
          <a:xfrm>
            <a:off x="4343400" y="2039112"/>
            <a:ext cx="3383280" cy="640080"/>
          </a:xfrm>
          <a:prstGeom prst="rect">
            <a:avLst/>
          </a:prstGeom>
          <a:noFill/>
          <a:ln/>
        </p:spPr>
        <p:txBody>
          <a:bodyPr wrap="square" lIns="0" tIns="0" rIns="0" bIns="0" rtlCol="0" anchor="t"/>
          <a:lstStyle/>
          <a:p>
            <a:pPr indent="0" marL="0">
              <a:buNone/>
            </a:pPr>
            <a:r>
              <a:rPr lang="en-US" sz="1200" dirty="0">
                <a:solidFill>
                  <a:schemeClr val="tx2"/>
                </a:solidFill>
              </a:rPr>
              <a:t>confirmed more stable by an independent energy-above-hull calculation</a:t>
            </a:r>
            <a:endParaRPr lang="en-US" sz="1200" dirty="0"/>
          </a:p>
        </p:txBody>
      </p:sp>
      <p:sp>
        <p:nvSpPr>
          <p:cNvPr id="7" name="Text 5"/>
          <p:cNvSpPr txBox="1"/>
          <p:nvPr/>
        </p:nvSpPr>
        <p:spPr>
          <a:xfrm>
            <a:off x="8138160" y="1325880"/>
            <a:ext cx="3520440" cy="68580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0.025 eV</a:t>
            </a:r>
            <a:endParaRPr lang="en-US" sz="3600" dirty="0"/>
          </a:p>
        </p:txBody>
      </p:sp>
      <p:sp>
        <p:nvSpPr>
          <p:cNvPr id="8" name="Text 6"/>
          <p:cNvSpPr txBox="1"/>
          <p:nvPr/>
        </p:nvSpPr>
        <p:spPr>
          <a:xfrm>
            <a:off x="8138160" y="2039112"/>
            <a:ext cx="3520440" cy="640080"/>
          </a:xfrm>
          <a:prstGeom prst="rect">
            <a:avLst/>
          </a:prstGeom>
          <a:noFill/>
          <a:ln/>
        </p:spPr>
        <p:txBody>
          <a:bodyPr wrap="square" lIns="0" tIns="0" rIns="0" bIns="0" rtlCol="0" anchor="t"/>
          <a:lstStyle/>
          <a:p>
            <a:pPr indent="0" marL="0">
              <a:buNone/>
            </a:pPr>
            <a:r>
              <a:rPr lang="en-US" sz="1200" dirty="0">
                <a:solidFill>
                  <a:schemeClr val="tx2"/>
                </a:solidFill>
              </a:rPr>
              <a:t>median energy above hull of the templates (CrystaLLM-large: 0.087 eV/atom)</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7315200" cy="914400"/>
        </p:xfrm>
        <a:graphic>
          <a:graphicData uri="http://schemas.openxmlformats.org/drawingml/2006/table">
            <a:tbl>
              <a:tblPr/>
              <a:tblGrid>
                <a:gridCol w="4023360"/>
                <a:gridCol w="1645920"/>
                <a:gridCol w="1645920"/>
              </a:tblGrid>
              <a:tr h="384048">
                <a:tc>
                  <a:txBody>
                    <a:bodyPr/>
                    <a:lstStyle/>
                    <a:p>
                      <a:pPr indent="0" marL="0">
                        <a:buNone/>
                      </a:pPr>
                      <a:r>
                        <a:rPr lang="en-US" sz="1400" b="1" dirty="0">
                          <a:solidFill>
                            <a:schemeClr val="tx1"/>
                          </a:solidFill>
                        </a:rPr>
                        <a:t>Energy above hull, 34 compositions</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tx1"/>
                          </a:solidFill>
                        </a:rPr>
                        <a:t>CrystaLLM-large</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tx1"/>
                          </a:solidFill>
                        </a:rPr>
                        <a:t>K-Ont template</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dirty="0">
                          <a:solidFill>
                            <a:schemeClr val="tx1"/>
                          </a:solidFill>
                        </a:rPr>
                        <a:t>Within 50 meV/atom of the hull</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dirty="0">
                          <a:solidFill>
                            <a:schemeClr val="tx1"/>
                          </a:solidFill>
                        </a:rPr>
                        <a:t>13</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tx1"/>
                          </a:solidFill>
                        </a:rPr>
                        <a:t>23</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384048">
                <a:tc>
                  <a:txBody>
                    <a:bodyPr/>
                    <a:lstStyle/>
                    <a:p>
                      <a:pPr indent="0" marL="0">
                        <a:buNone/>
                      </a:pPr>
                      <a:r>
                        <a:rPr lang="en-US" sz="1400" dirty="0">
                          <a:solidFill>
                            <a:schemeClr val="tx1"/>
                          </a:solidFill>
                        </a:rPr>
                        <a:t>Within 100 meV/atom of the hull</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dirty="0">
                          <a:solidFill>
                            <a:schemeClr val="tx1"/>
                          </a:solidFill>
                        </a:rPr>
                        <a:t>19</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algn="r" indent="0" marL="0">
                        <a:buNone/>
                      </a:pPr>
                      <a:r>
                        <a:rPr lang="en-US" sz="1400" b="1" dirty="0">
                          <a:solidFill>
                            <a:schemeClr val="tx1"/>
                          </a:solidFill>
                        </a:rPr>
                        <a:t>27</a:t>
                      </a:r>
                      <a:endParaRPr lang="en-US" sz="14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bl>
          </a:graphicData>
        </a:graphic>
      </p:graphicFrame>
      <p:sp>
        <p:nvSpPr>
          <p:cNvPr id="10" name="Text 7"/>
          <p:cNvSpPr txBox="1"/>
          <p:nvPr/>
        </p:nvSpPr>
        <p:spPr>
          <a:xfrm>
            <a:off x="8229600" y="3291840"/>
            <a:ext cx="3429000" cy="1737360"/>
          </a:xfrm>
          <a:prstGeom prst="rect">
            <a:avLst/>
          </a:prstGeom>
          <a:noFill/>
          <a:ln/>
        </p:spPr>
        <p:txBody>
          <a:bodyPr wrap="square" lIns="0" tIns="0" rIns="0" bIns="0" rtlCol="0" anchor="t"/>
          <a:lstStyle/>
          <a:p>
            <a:pPr indent="0" marL="0">
              <a:buNone/>
            </a:pPr>
            <a:r>
              <a:rPr lang="en-US" sz="1300" dirty="0">
                <a:solidFill>
                  <a:schemeClr val="tx2"/>
                </a:solidFill>
              </a:rPr>
              <a:t>Caveat: the 34 were selected because CHGNet favoured the template, so this confirms the ranking; a random sample is needed for an overall win rate.</a:t>
            </a:r>
            <a:endParaRPr lang="en-US" sz="13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What did not work: putting the knowledge inside CrystaLLM</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a:tblGrid>
                <a:gridCol w="6035040"/>
                <a:gridCol w="5074920"/>
              </a:tblGrid>
              <a:tr h="457200">
                <a:tc>
                  <a:txBody>
                    <a:bodyPr/>
                    <a:lstStyle/>
                    <a:p>
                      <a:pPr indent="0" marL="0">
                        <a:buNone/>
                      </a:pPr>
                      <a:r>
                        <a:rPr lang="en-US" sz="1300" b="1" dirty="0">
                          <a:solidFill>
                            <a:schemeClr val="tx1"/>
                          </a:solidFill>
                        </a:rPr>
                        <a:t>Approach</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300" b="1" dirty="0">
                          <a:solidFill>
                            <a:schemeClr val="tx1"/>
                          </a:solidFill>
                        </a:rPr>
                        <a:t>Result</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457200">
                <a:tc>
                  <a:txBody>
                    <a:bodyPr/>
                    <a:lstStyle/>
                    <a:p>
                      <a:pPr indent="0" marL="0">
                        <a:buNone/>
                      </a:pPr>
                      <a:r>
                        <a:rPr lang="en-US" sz="1300" dirty="0">
                          <a:solidFill>
                            <a:schemeClr val="tx1"/>
                          </a:solidFill>
                        </a:rPr>
                        <a:t>Soft prompt + gated adapters (K-Ont embedding of a retrieved analogue)</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300" dirty="0">
                          <a:solidFill>
                            <a:schemeClr val="tx1"/>
                          </a:solidFill>
                        </a:rPr>
                        <a:t>steers the framework, but at most +1.5 points</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457200">
                <a:tc>
                  <a:txBody>
                    <a:bodyPr/>
                    <a:lstStyle/>
                    <a:p>
                      <a:pPr indent="0" marL="0">
                        <a:buNone/>
                      </a:pPr>
                      <a:r>
                        <a:rPr lang="en-US" sz="1300" dirty="0">
                          <a:solidFill>
                            <a:schemeClr val="tx1"/>
                          </a:solidFill>
                        </a:rPr>
                        <a:t>Ceiling: give CrystaLLM the TRUE analogue</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300" dirty="0">
                          <a:solidFill>
                            <a:schemeClr val="tx1"/>
                          </a:solidFill>
                        </a:rPr>
                        <a:t>only +2.1 (CrystaLLM), +2.7 (GPT trained without test materials)</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457200">
                <a:tc>
                  <a:txBody>
                    <a:bodyPr/>
                    <a:lstStyle/>
                    <a:p>
                      <a:pPr indent="0" marL="0">
                        <a:buNone/>
                      </a:pPr>
                      <a:r>
                        <a:rPr lang="en-US" sz="1300" dirty="0">
                          <a:solidFill>
                            <a:schemeClr val="tx1"/>
                          </a:solidFill>
                        </a:rPr>
                        <a:t>Hard prompt: template's space group and cell as the prompt</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300" dirty="0">
                          <a:solidFill>
                            <a:schemeClr val="tx1"/>
                          </a:solidFill>
                        </a:rPr>
                        <a:t>45.9%, worse than the template itself (60.5%)</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457200">
                <a:tc>
                  <a:txBody>
                    <a:bodyPr/>
                    <a:lstStyle/>
                    <a:p>
                      <a:pPr indent="0" marL="0">
                        <a:buNone/>
                      </a:pPr>
                      <a:r>
                        <a:rPr lang="en-US" sz="1300" dirty="0">
                          <a:solidFill>
                            <a:schemeClr val="tx1"/>
                          </a:solidFill>
                        </a:rPr>
                        <a:t>Template editor: CrystaLLM rewrites the template</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300" dirty="0">
                          <a:solidFill>
                            <a:schemeClr val="tx1"/>
                          </a:solidFill>
                        </a:rPr>
                        <a:t>22.1%; breaks correct templates</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r h="457200">
                <a:tc>
                  <a:txBody>
                    <a:bodyPr/>
                    <a:lstStyle/>
                    <a:p>
                      <a:pPr indent="0" marL="0">
                        <a:buNone/>
                      </a:pPr>
                      <a:r>
                        <a:rPr lang="en-US" sz="1300" dirty="0">
                          <a:solidFill>
                            <a:schemeClr val="tx1"/>
                          </a:solidFill>
                        </a:rPr>
                        <a:t>K-Ont checker re-ranks CrystaLLM's samples</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c>
                  <a:txBody>
                    <a:bodyPr/>
                    <a:lstStyle/>
                    <a:p>
                      <a:pPr indent="0" marL="0">
                        <a:buNone/>
                      </a:pPr>
                      <a:r>
                        <a:rPr lang="en-US" sz="1300" dirty="0">
                          <a:solidFill>
                            <a:schemeClr val="tx1"/>
                          </a:solidFill>
                        </a:rPr>
                        <a:t>+2.3 to +3.5 at the first sample; no gain after the CHGNet pick</a:t>
                      </a:r>
                      <a:endParaRPr lang="en-US" sz="1300" dirty="0"/>
                    </a:p>
                  </a:txBody>
                  <a:tcPr marL="91440" marR="91440" marT="45720" marB="45720">
                    <a:lnL w="12700" cap="flat" cmpd="sng" algn="ctr">
                      <a:solidFill>
                        <a:srgbClr val="F2F3F6"/>
                      </a:solidFill>
                      <a:prstDash val="solid"/>
                      <a:round/>
                      <a:headEnd type="none" w="med" len="med"/>
                      <a:tailEnd type="none" w="med" len="med"/>
                    </a:lnL>
                    <a:lnR w="12700" cap="flat" cmpd="sng" algn="ctr">
                      <a:solidFill>
                        <a:srgbClr val="F2F3F6"/>
                      </a:solidFill>
                      <a:prstDash val="solid"/>
                      <a:round/>
                      <a:headEnd type="none" w="med" len="med"/>
                      <a:tailEnd type="none" w="med" len="med"/>
                    </a:lnR>
                    <a:lnT w="12700" cap="flat" cmpd="sng" algn="ctr">
                      <a:solidFill>
                        <a:srgbClr val="F2F3F6"/>
                      </a:solidFill>
                      <a:prstDash val="solid"/>
                      <a:round/>
                      <a:headEnd type="none" w="med" len="med"/>
                      <a:tailEnd type="none" w="med" len="med"/>
                    </a:lnT>
                    <a:lnB w="12700" cap="flat" cmpd="sng" algn="ctr">
                      <a:solidFill>
                        <a:srgbClr val="F2F3F6"/>
                      </a:solidFill>
                      <a:prstDash val="solid"/>
                      <a:round/>
                      <a:headEnd type="none" w="med" len="med"/>
                      <a:tailEnd type="none" w="med" len="med"/>
                    </a:lnB>
                  </a:tcPr>
                </a:tc>
              </a:tr>
            </a:tbl>
          </a:graphicData>
        </a:graphic>
      </p:graphicFrame>
      <p:sp>
        <p:nvSpPr>
          <p:cNvPr id="4" name="Lesson"/>
          <p:cNvSpPr/>
          <p:nvPr/>
        </p:nvSpPr>
        <p:spPr>
          <a:xfrm>
            <a:off x="548640" y="4343400"/>
            <a:ext cx="11109960" cy="1097280"/>
          </a:xfrm>
          <a:prstGeom prst="roundRect">
            <a:avLst>
              <a:gd name="adj" fmla="val 5000"/>
            </a:avLst>
          </a:prstGeom>
          <a:solidFill>
            <a:schemeClr val="accent1">
              <a:alpha val="14000"/>
            </a:schemeClr>
          </a:solidFill>
          <a:ln w="12700">
            <a:solidFill>
              <a:schemeClr val="accent1"/>
            </a:solidFill>
          </a:ln>
        </p:spPr>
        <p:txBody>
          <a:bodyPr wrap="square" lIns="50800" tIns="50800" rIns="50800" bIns="50800" rtlCol="0" anchor="ctr"/>
          <a:lstStyle/>
          <a:p>
            <a:pPr algn="l" indent="0" marL="0">
              <a:buNone/>
            </a:pPr>
            <a:r>
              <a:rPr lang="en-US" sz="1500" b="1" dirty="0">
                <a:solidFill>
                  <a:schemeClr val="tx1"/>
                </a:solidFill>
              </a:rPr>
              <a:t>Lesson</a:t>
            </a:r>
            <a:endParaRPr lang="en-US" sz="1500" dirty="0"/>
          </a:p>
          <a:p>
            <a:pPr algn="l" indent="0" marL="0">
              <a:buNone/>
            </a:pPr>
            <a:r>
              <a:rPr lang="en-US" sz="1400" dirty="0">
                <a:solidFill>
                  <a:schemeClr val="tx2"/>
                </a:solidFill>
              </a:rPr>
              <a:t>Knowledge tells the model which framework to use, but the model still has to write every atom position, and that is where it fails. Knowledge helps most when the retrieved structure is used directly.</a:t>
            </a:r>
            <a:endParaRPr lang="en-US" sz="15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3000" b="1" dirty="0">
                <a:solidFill>
                  <a:schemeClr val="tx1"/>
                </a:solidFill>
              </a:rPr>
              <a:t>Limitations and next steps</a:t>
            </a:r>
            <a:endParaRPr lang="en-US" sz="3000" dirty="0"/>
          </a:p>
        </p:txBody>
      </p:sp>
      <p:sp>
        <p:nvSpPr>
          <p:cNvPr id="3" name="Limitations"/>
          <p:cNvSpPr/>
          <p:nvPr/>
        </p:nvSpPr>
        <p:spPr>
          <a:xfrm>
            <a:off x="548640" y="1325880"/>
            <a:ext cx="5394960" cy="3931920"/>
          </a:xfrm>
          <a:prstGeom prst="roundRect">
            <a:avLst>
              <a:gd name="adj" fmla="val 1395"/>
            </a:avLst>
          </a:prstGeom>
          <a:solidFill>
            <a:schemeClr val="accent6">
              <a:alpha val="14000"/>
            </a:schemeClr>
          </a:solidFill>
          <a:ln w="12700">
            <a:solidFill>
              <a:schemeClr val="accent6"/>
            </a:solidFill>
            <a:prstDash val="solid"/>
          </a:ln>
        </p:spPr>
      </p:sp>
      <p:sp>
        <p:nvSpPr>
          <p:cNvPr id="4" name="Text 2"/>
          <p:cNvSpPr txBox="1"/>
          <p:nvPr/>
        </p:nvSpPr>
        <p:spPr>
          <a:xfrm>
            <a:off x="777240" y="1508760"/>
            <a:ext cx="4937760" cy="411480"/>
          </a:xfrm>
          <a:prstGeom prst="rect">
            <a:avLst/>
          </a:prstGeom>
          <a:noFill/>
          <a:ln/>
        </p:spPr>
        <p:txBody>
          <a:bodyPr wrap="square" lIns="0" tIns="0" rIns="0" bIns="0" rtlCol="0" anchor="t"/>
          <a:lstStyle/>
          <a:p>
            <a:pPr indent="0" marL="0">
              <a:buNone/>
            </a:pPr>
            <a:r>
              <a:rPr lang="en-US" sz="1800" b="1" dirty="0">
                <a:solidFill>
                  <a:schemeClr val="tx1"/>
                </a:solidFill>
              </a:rPr>
              <a:t>Limitations</a:t>
            </a:r>
            <a:endParaRPr lang="en-US" sz="1800" dirty="0"/>
          </a:p>
        </p:txBody>
      </p:sp>
      <p:sp>
        <p:nvSpPr>
          <p:cNvPr id="5" name="Text 3"/>
          <p:cNvSpPr txBox="1"/>
          <p:nvPr/>
        </p:nvSpPr>
        <p:spPr>
          <a:xfrm>
            <a:off x="777240" y="201168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plain text encoder trained on the same graph relation picks templates about as well; K-Ont's distinct value is one model that also reasons over the ontology</a:t>
            </a:r>
            <a:endParaRPr lang="en-US" sz="1400" dirty="0"/>
          </a:p>
          <a:p>
            <a:pPr marL="342900" indent="-342900">
              <a:spcAft>
                <a:spcPts val="800"/>
              </a:spcAft>
              <a:buSzPct val="100000"/>
              <a:buChar char="•"/>
            </a:pPr>
            <a:r>
              <a:rPr lang="en-US" sz="1400" dirty="0">
                <a:solidFill>
                  <a:schemeClr val="tx1"/>
                </a:solidFill>
              </a:rPr>
              <a:t>Templates cannot create frameworks missing from the graph (~9% of targets)</a:t>
            </a:r>
            <a:endParaRPr lang="en-US" sz="1400" dirty="0"/>
          </a:p>
          <a:p>
            <a:pPr marL="342900" indent="-342900">
              <a:spcAft>
                <a:spcPts val="800"/>
              </a:spcAft>
              <a:buSzPct val="100000"/>
              <a:buChar char="•"/>
            </a:pPr>
            <a:r>
              <a:rPr lang="en-US" sz="1400" dirty="0">
                <a:solidFill>
                  <a:schemeClr val="tx1"/>
                </a:solidFill>
              </a:rPr>
              <a:t>No templates yet for systems with more than five elements</a:t>
            </a:r>
            <a:endParaRPr lang="en-US" sz="1400" dirty="0"/>
          </a:p>
          <a:p>
            <a:pPr marL="342900" indent="-342900">
              <a:spcAft>
                <a:spcPts val="800"/>
              </a:spcAft>
              <a:buSzPct val="100000"/>
              <a:buChar char="•"/>
            </a:pPr>
            <a:r>
              <a:rPr lang="en-US" sz="1400" dirty="0">
                <a:solidFill>
                  <a:schemeClr val="tx1"/>
                </a:solidFill>
              </a:rPr>
              <a:t>Energy pick uses CHGNet with a short relaxation</a:t>
            </a:r>
            <a:endParaRPr lang="en-US" sz="1400" dirty="0"/>
          </a:p>
          <a:p>
            <a:pPr marL="342900" indent="-342900">
              <a:spcAft>
                <a:spcPts val="800"/>
              </a:spcAft>
              <a:buSzPct val="100000"/>
              <a:buChar char="•"/>
            </a:pPr>
            <a:r>
              <a:rPr lang="en-US" sz="1400" dirty="0">
                <a:solidFill>
                  <a:schemeClr val="tx1"/>
                </a:solidFill>
              </a:rPr>
              <a:t>Novel-cathode check covers a CHGNet-selected subset</a:t>
            </a:r>
            <a:endParaRPr lang="en-US" sz="1400" dirty="0"/>
          </a:p>
        </p:txBody>
      </p:sp>
      <p:sp>
        <p:nvSpPr>
          <p:cNvPr id="6" name="Next steps"/>
          <p:cNvSpPr/>
          <p:nvPr/>
        </p:nvSpPr>
        <p:spPr>
          <a:xfrm>
            <a:off x="6263640" y="1325880"/>
            <a:ext cx="5394960" cy="3931920"/>
          </a:xfrm>
          <a:prstGeom prst="roundRect">
            <a:avLst>
              <a:gd name="adj" fmla="val 1395"/>
            </a:avLst>
          </a:prstGeom>
          <a:solidFill>
            <a:schemeClr val="accent4">
              <a:alpha val="14000"/>
            </a:schemeClr>
          </a:solidFill>
          <a:ln w="12700">
            <a:solidFill>
              <a:schemeClr val="accent4"/>
            </a:solidFill>
            <a:prstDash val="solid"/>
          </a:ln>
        </p:spPr>
      </p:sp>
      <p:sp>
        <p:nvSpPr>
          <p:cNvPr id="7" name="Text 5"/>
          <p:cNvSpPr txBox="1"/>
          <p:nvPr/>
        </p:nvSpPr>
        <p:spPr>
          <a:xfrm>
            <a:off x="6492240" y="1508760"/>
            <a:ext cx="4937760" cy="411480"/>
          </a:xfrm>
          <a:prstGeom prst="rect">
            <a:avLst/>
          </a:prstGeom>
          <a:noFill/>
          <a:ln/>
        </p:spPr>
        <p:txBody>
          <a:bodyPr wrap="square" lIns="0" tIns="0" rIns="0" bIns="0" rtlCol="0" anchor="t"/>
          <a:lstStyle/>
          <a:p>
            <a:pPr indent="0" marL="0">
              <a:buNone/>
            </a:pPr>
            <a:r>
              <a:rPr lang="en-US" sz="1800" b="1" dirty="0">
                <a:solidFill>
                  <a:schemeClr val="tx1"/>
                </a:solidFill>
              </a:rPr>
              <a:t>Next steps</a:t>
            </a:r>
            <a:endParaRPr lang="en-US" sz="1800" dirty="0"/>
          </a:p>
        </p:txBody>
      </p:sp>
      <p:sp>
        <p:nvSpPr>
          <p:cNvPr id="8" name="Text 6"/>
          <p:cNvSpPr txBox="1"/>
          <p:nvPr/>
        </p:nvSpPr>
        <p:spPr>
          <a:xfrm>
            <a:off x="6492240" y="201168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Feed knowledge-track structures into the oxidation-state aware MatterGen screening funnel (MatterSim → stable, unique, novel → DFT)</a:t>
            </a:r>
            <a:endParaRPr lang="en-US" sz="1400" dirty="0"/>
          </a:p>
          <a:p>
            <a:pPr marL="342900" indent="-342900">
              <a:spcAft>
                <a:spcPts val="800"/>
              </a:spcAft>
              <a:buSzPct val="100000"/>
              <a:buChar char="•"/>
            </a:pPr>
            <a:r>
              <a:rPr lang="en-US" sz="1400" dirty="0">
                <a:solidFill>
                  <a:schemeClr val="tx1"/>
                </a:solidFill>
              </a:rPr>
              <a:t>Unbiased DFT sample of the novel cathodes</a:t>
            </a:r>
            <a:endParaRPr lang="en-US" sz="1400" dirty="0"/>
          </a:p>
          <a:p>
            <a:pPr marL="342900" indent="-342900">
              <a:spcAft>
                <a:spcPts val="800"/>
              </a:spcAft>
              <a:buSzPct val="100000"/>
              <a:buChar char="•"/>
            </a:pPr>
            <a:r>
              <a:rPr lang="en-US" sz="1400" dirty="0">
                <a:solidFill>
                  <a:schemeClr val="tx1"/>
                </a:solidFill>
              </a:rPr>
              <a:t>Mixed-site templates for 6–7 element systems</a:t>
            </a:r>
            <a:endParaRPr lang="en-US" sz="1400" dirty="0"/>
          </a:p>
          <a:p>
            <a:pPr marL="342900" indent="-342900">
              <a:spcAft>
                <a:spcPts val="800"/>
              </a:spcAft>
              <a:buSzPct val="100000"/>
              <a:buChar char="•"/>
            </a:pPr>
            <a:r>
              <a:rPr lang="en-US" sz="1400" dirty="0">
                <a:solidFill>
                  <a:schemeClr val="tx1"/>
                </a:solidFill>
              </a:rPr>
              <a:t>Property prediction (voltage, capacity) from K-Ont embeddings</a:t>
            </a:r>
            <a:endParaRPr lang="en-US" sz="1400" dirty="0"/>
          </a:p>
          <a:p>
            <a:pPr marL="342900" indent="-342900">
              <a:spcAft>
                <a:spcPts val="800"/>
              </a:spcAft>
              <a:buSzPct val="100000"/>
              <a:buChar char="•"/>
            </a:pPr>
            <a:r>
              <a:rPr lang="en-US" sz="1400" dirty="0">
                <a:solidFill>
                  <a:schemeClr val="tx1"/>
                </a:solidFill>
              </a:rPr>
              <a:t>Competency questions as SPARQL queries over the graph</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athode Discovery">
  <a:themeElements>
    <a:clrScheme name="Cathode Discovery">
      <a:dk1>
        <a:srgbClr val="1D2129"/>
      </a:dk1>
      <a:lt1>
        <a:srgbClr val="FFFFFF"/>
      </a:lt1>
      <a:dk2>
        <a:srgbClr val="4A5160"/>
      </a:dk2>
      <a:lt2>
        <a:srgbClr val="F2F3F6"/>
      </a:lt2>
      <a:accent1>
        <a:srgbClr val="A4123F"/>
      </a:accent1>
      <a:accent2>
        <a:srgbClr val="2E8B8B"/>
      </a:accent2>
      <a:accent3>
        <a:srgbClr val="7E5CA6"/>
      </a:accent3>
      <a:accent4>
        <a:srgbClr val="2F7A55"/>
      </a:accent4>
      <a:accent5>
        <a:srgbClr val="6B7380"/>
      </a:accent5>
      <a:accent6>
        <a:srgbClr val="B8891F"/>
      </a:accent6>
      <a:hlink>
        <a:srgbClr val="A4123F"/>
      </a:hlink>
      <a:folHlink>
        <a:srgbClr val="7E5CA6"/>
      </a:folHlink>
    </a:clrScheme>
    <a:fontScheme name="Cathode Discov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Amrita Vishwa Vidyapeetham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K-Ont Template Generation</dc:title>
  <dc:subject>PptxGenJS Presentation</dc:subject>
  <dc:creator>Team 25</dc:creator>
  <cp:lastModifiedBy>Team 25</cp:lastModifiedBy>
  <cp:revision>1</cp:revision>
  <dcterms:created xsi:type="dcterms:W3CDTF">2026-10-26T06:26:06Z</dcterms:created>
  <dcterms:modified xsi:type="dcterms:W3CDTF">2026-10-26T06:26:06Z</dcterms:modified>
</cp:coreProperties>
</file>